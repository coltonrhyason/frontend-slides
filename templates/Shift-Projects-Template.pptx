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Replace the title. The stepped graphic is a native shape (Format &gt; Fill to recolour).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Duplicate for each section; change the number and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AGENDA. Three numbered sections with short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SPLIT. Big headline left, short body copy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NUMBERED COLUMNS. Four goals, steps or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STATEMENT. One big line plus a small supporting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REVERSED. A key figure or claim on Washed Black with brick 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STATS. Three big numbers with a label and one line of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FEATURE. Project or case study. Text left; photo panel right. Replace the grey photo area by inserting an image and cropping to the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GRID. Process shots (single-colour, behind the scenes) on the left; project shots (full colour) on the right. Insert images over the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QUOTE. A client or team testimonial in large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SPECTRUM / TONE DIALS. Drag the coloured dot along each line to set a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PILLARS. Focus and specialty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/ DON'T. Approved vs unapproved examples. Edit the sample text; the cross is two lines you can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CARDS. Four colour-block cards: options, services or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STEPS. Stepped bars echo the Shift linear graphic. Process or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POLL / DISCUSSION. A question with lettered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Three-column outline of what was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Thank you, contact details, icon + stacked wordmark lockup.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hift - Cr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DECK TITLE</a:t>
            </a:r>
          </a:p>
        </p:txBody>
      </p:sp>
      <p:sp>
        <p:nvSpPr>
          <p:cNvPr id="4" name="Shift icon"/>
          <p:cNvSpPr/>
          <p:nvPr/>
        </p:nvSpPr>
        <p:spPr>
          <a:xfrm>
            <a:off x="11271475" y="475486"/>
            <a:ext cx="414526" cy="345883"/>
          </a:xfrm>
          <a:custGeom>
            <a:avLst/>
            <a:gdLst/>
            <a:ahLst/>
            <a:cxnLst/>
            <a:rect l="0" t="0" r="r" b="b"/>
            <a:pathLst>
              <a:path w="31100" h="25950">
                <a:moveTo>
                  <a:pt x="23195" y="5625"/>
                </a:moveTo>
                <a:lnTo>
                  <a:pt x="18380" y="5613"/>
                </a:lnTo>
                <a:cubicBezTo>
                  <a:pt x="17807" y="5612"/>
                  <a:pt x="17285" y="5945"/>
                  <a:pt x="17045" y="6466"/>
                </a:cubicBezTo>
                <a:lnTo>
                  <a:pt x="15815" y="9133"/>
                </a:lnTo>
                <a:cubicBezTo>
                  <a:pt x="15453" y="9916"/>
                  <a:pt x="14668" y="10418"/>
                  <a:pt x="13805" y="10416"/>
                </a:cubicBezTo>
                <a:lnTo>
                  <a:pt x="7799" y="10400"/>
                </a:lnTo>
                <a:cubicBezTo>
                  <a:pt x="6310" y="10397"/>
                  <a:pt x="5108" y="9154"/>
                  <a:pt x="5168" y="7652"/>
                </a:cubicBezTo>
                <a:cubicBezTo>
                  <a:pt x="5226" y="6223"/>
                  <a:pt x="6448" y="5117"/>
                  <a:pt x="7878" y="5120"/>
                </a:cubicBezTo>
                <a:lnTo>
                  <a:pt x="17523" y="5145"/>
                </a:lnTo>
                <a:cubicBezTo>
                  <a:pt x="17780" y="5145"/>
                  <a:pt x="18015" y="4996"/>
                  <a:pt x="18122" y="4762"/>
                </a:cubicBezTo>
                <a:lnTo>
                  <a:pt x="20314" y="9"/>
                </a:lnTo>
                <a:lnTo>
                  <a:pt x="7924" y="7"/>
                </a:lnTo>
                <a:cubicBezTo>
                  <a:pt x="3655" y="-4"/>
                  <a:pt x="105" y="3396"/>
                  <a:pt x="53" y="7664"/>
                </a:cubicBezTo>
                <a:cubicBezTo>
                  <a:pt x="0" y="11975"/>
                  <a:pt x="3486" y="15504"/>
                  <a:pt x="7787" y="15514"/>
                </a:cubicBezTo>
                <a:lnTo>
                  <a:pt x="12364" y="15525"/>
                </a:lnTo>
                <a:cubicBezTo>
                  <a:pt x="12847" y="15527"/>
                  <a:pt x="13287" y="15246"/>
                  <a:pt x="13490" y="14807"/>
                </a:cubicBezTo>
                <a:lnTo>
                  <a:pt x="14781" y="12006"/>
                </a:lnTo>
                <a:cubicBezTo>
                  <a:pt x="15143" y="11222"/>
                  <a:pt x="15928" y="10721"/>
                  <a:pt x="16791" y="10723"/>
                </a:cubicBezTo>
                <a:lnTo>
                  <a:pt x="23236" y="10739"/>
                </a:lnTo>
                <a:cubicBezTo>
                  <a:pt x="24665" y="10743"/>
                  <a:pt x="25882" y="11855"/>
                  <a:pt x="25933" y="13284"/>
                </a:cubicBezTo>
                <a:cubicBezTo>
                  <a:pt x="25986" y="14786"/>
                  <a:pt x="24777" y="16023"/>
                  <a:pt x="23288" y="16020"/>
                </a:cubicBezTo>
                <a:lnTo>
                  <a:pt x="13392" y="15995"/>
                </a:lnTo>
                <a:cubicBezTo>
                  <a:pt x="12940" y="15994"/>
                  <a:pt x="12530" y="16256"/>
                  <a:pt x="12341" y="16666"/>
                </a:cubicBezTo>
                <a:lnTo>
                  <a:pt x="10940" y="19703"/>
                </a:lnTo>
                <a:cubicBezTo>
                  <a:pt x="10621" y="20395"/>
                  <a:pt x="9927" y="20838"/>
                  <a:pt x="9164" y="20836"/>
                </a:cubicBezTo>
                <a:lnTo>
                  <a:pt x="3836" y="20823"/>
                </a:lnTo>
                <a:cubicBezTo>
                  <a:pt x="3526" y="20822"/>
                  <a:pt x="3245" y="21002"/>
                  <a:pt x="3115" y="21283"/>
                </a:cubicBezTo>
                <a:lnTo>
                  <a:pt x="968" y="25929"/>
                </a:lnTo>
                <a:lnTo>
                  <a:pt x="6622" y="25943"/>
                </a:lnTo>
                <a:cubicBezTo>
                  <a:pt x="7672" y="25946"/>
                  <a:pt x="8628" y="25336"/>
                  <a:pt x="9069" y="24382"/>
                </a:cubicBezTo>
                <a:lnTo>
                  <a:pt x="10057" y="22238"/>
                </a:lnTo>
                <a:cubicBezTo>
                  <a:pt x="10376" y="21545"/>
                  <a:pt x="11069" y="21127"/>
                  <a:pt x="11831" y="21129"/>
                </a:cubicBezTo>
                <a:lnTo>
                  <a:pt x="23275" y="21129"/>
                </a:lnTo>
                <a:cubicBezTo>
                  <a:pt x="27590" y="21139"/>
                  <a:pt x="31100" y="17611"/>
                  <a:pt x="31047" y="13282"/>
                </a:cubicBezTo>
                <a:cubicBezTo>
                  <a:pt x="30995" y="9026"/>
                  <a:pt x="27452" y="5636"/>
                  <a:pt x="23195" y="5625"/>
                </a:cubicBezTo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tx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hift - L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DECK TITLE</a:t>
            </a:r>
          </a:p>
        </p:txBody>
      </p:sp>
      <p:sp>
        <p:nvSpPr>
          <p:cNvPr id="4" name="Shift icon"/>
          <p:cNvSpPr/>
          <p:nvPr/>
        </p:nvSpPr>
        <p:spPr>
          <a:xfrm>
            <a:off x="11271475" y="475486"/>
            <a:ext cx="414526" cy="345883"/>
          </a:xfrm>
          <a:custGeom>
            <a:avLst/>
            <a:gdLst/>
            <a:ahLst/>
            <a:cxnLst/>
            <a:rect l="0" t="0" r="r" b="b"/>
            <a:pathLst>
              <a:path w="31100" h="25950">
                <a:moveTo>
                  <a:pt x="23195" y="5625"/>
                </a:moveTo>
                <a:lnTo>
                  <a:pt x="18380" y="5613"/>
                </a:lnTo>
                <a:cubicBezTo>
                  <a:pt x="17807" y="5612"/>
                  <a:pt x="17285" y="5945"/>
                  <a:pt x="17045" y="6466"/>
                </a:cubicBezTo>
                <a:lnTo>
                  <a:pt x="15815" y="9133"/>
                </a:lnTo>
                <a:cubicBezTo>
                  <a:pt x="15453" y="9916"/>
                  <a:pt x="14668" y="10418"/>
                  <a:pt x="13805" y="10416"/>
                </a:cubicBezTo>
                <a:lnTo>
                  <a:pt x="7799" y="10400"/>
                </a:lnTo>
                <a:cubicBezTo>
                  <a:pt x="6310" y="10397"/>
                  <a:pt x="5108" y="9154"/>
                  <a:pt x="5168" y="7652"/>
                </a:cubicBezTo>
                <a:cubicBezTo>
                  <a:pt x="5226" y="6223"/>
                  <a:pt x="6448" y="5117"/>
                  <a:pt x="7878" y="5120"/>
                </a:cubicBezTo>
                <a:lnTo>
                  <a:pt x="17523" y="5145"/>
                </a:lnTo>
                <a:cubicBezTo>
                  <a:pt x="17780" y="5145"/>
                  <a:pt x="18015" y="4996"/>
                  <a:pt x="18122" y="4762"/>
                </a:cubicBezTo>
                <a:lnTo>
                  <a:pt x="20314" y="9"/>
                </a:lnTo>
                <a:lnTo>
                  <a:pt x="7924" y="7"/>
                </a:lnTo>
                <a:cubicBezTo>
                  <a:pt x="3655" y="-4"/>
                  <a:pt x="105" y="3396"/>
                  <a:pt x="53" y="7664"/>
                </a:cubicBezTo>
                <a:cubicBezTo>
                  <a:pt x="0" y="11975"/>
                  <a:pt x="3486" y="15504"/>
                  <a:pt x="7787" y="15514"/>
                </a:cubicBezTo>
                <a:lnTo>
                  <a:pt x="12364" y="15525"/>
                </a:lnTo>
                <a:cubicBezTo>
                  <a:pt x="12847" y="15527"/>
                  <a:pt x="13287" y="15246"/>
                  <a:pt x="13490" y="14807"/>
                </a:cubicBezTo>
                <a:lnTo>
                  <a:pt x="14781" y="12006"/>
                </a:lnTo>
                <a:cubicBezTo>
                  <a:pt x="15143" y="11222"/>
                  <a:pt x="15928" y="10721"/>
                  <a:pt x="16791" y="10723"/>
                </a:cubicBezTo>
                <a:lnTo>
                  <a:pt x="23236" y="10739"/>
                </a:lnTo>
                <a:cubicBezTo>
                  <a:pt x="24665" y="10743"/>
                  <a:pt x="25882" y="11855"/>
                  <a:pt x="25933" y="13284"/>
                </a:cubicBezTo>
                <a:cubicBezTo>
                  <a:pt x="25986" y="14786"/>
                  <a:pt x="24777" y="16023"/>
                  <a:pt x="23288" y="16020"/>
                </a:cubicBezTo>
                <a:lnTo>
                  <a:pt x="13392" y="15995"/>
                </a:lnTo>
                <a:cubicBezTo>
                  <a:pt x="12940" y="15994"/>
                  <a:pt x="12530" y="16256"/>
                  <a:pt x="12341" y="16666"/>
                </a:cubicBezTo>
                <a:lnTo>
                  <a:pt x="10940" y="19703"/>
                </a:lnTo>
                <a:cubicBezTo>
                  <a:pt x="10621" y="20395"/>
                  <a:pt x="9927" y="20838"/>
                  <a:pt x="9164" y="20836"/>
                </a:cubicBezTo>
                <a:lnTo>
                  <a:pt x="3836" y="20823"/>
                </a:lnTo>
                <a:cubicBezTo>
                  <a:pt x="3526" y="20822"/>
                  <a:pt x="3245" y="21002"/>
                  <a:pt x="3115" y="21283"/>
                </a:cubicBezTo>
                <a:lnTo>
                  <a:pt x="968" y="25929"/>
                </a:lnTo>
                <a:lnTo>
                  <a:pt x="6622" y="25943"/>
                </a:lnTo>
                <a:cubicBezTo>
                  <a:pt x="7672" y="25946"/>
                  <a:pt x="8628" y="25336"/>
                  <a:pt x="9069" y="24382"/>
                </a:cubicBezTo>
                <a:lnTo>
                  <a:pt x="10057" y="22238"/>
                </a:lnTo>
                <a:cubicBezTo>
                  <a:pt x="10376" y="21545"/>
                  <a:pt x="11069" y="21127"/>
                  <a:pt x="11831" y="21129"/>
                </a:cubicBezTo>
                <a:lnTo>
                  <a:pt x="23275" y="21129"/>
                </a:lnTo>
                <a:cubicBezTo>
                  <a:pt x="27590" y="21139"/>
                  <a:pt x="31100" y="17611"/>
                  <a:pt x="31047" y="13282"/>
                </a:cubicBezTo>
                <a:cubicBezTo>
                  <a:pt x="30995" y="9026"/>
                  <a:pt x="27452" y="5636"/>
                  <a:pt x="23195" y="5625"/>
                </a:cubicBezTo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tx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hift - Sla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DECK TITLE</a:t>
            </a:r>
          </a:p>
        </p:txBody>
      </p:sp>
      <p:sp>
        <p:nvSpPr>
          <p:cNvPr id="4" name="Shift icon"/>
          <p:cNvSpPr/>
          <p:nvPr/>
        </p:nvSpPr>
        <p:spPr>
          <a:xfrm>
            <a:off x="11271475" y="475486"/>
            <a:ext cx="414526" cy="345883"/>
          </a:xfrm>
          <a:custGeom>
            <a:avLst/>
            <a:gdLst/>
            <a:ahLst/>
            <a:cxnLst/>
            <a:rect l="0" t="0" r="r" b="b"/>
            <a:pathLst>
              <a:path w="31100" h="25950">
                <a:moveTo>
                  <a:pt x="23195" y="5625"/>
                </a:moveTo>
                <a:lnTo>
                  <a:pt x="18380" y="5613"/>
                </a:lnTo>
                <a:cubicBezTo>
                  <a:pt x="17807" y="5612"/>
                  <a:pt x="17285" y="5945"/>
                  <a:pt x="17045" y="6466"/>
                </a:cubicBezTo>
                <a:lnTo>
                  <a:pt x="15815" y="9133"/>
                </a:lnTo>
                <a:cubicBezTo>
                  <a:pt x="15453" y="9916"/>
                  <a:pt x="14668" y="10418"/>
                  <a:pt x="13805" y="10416"/>
                </a:cubicBezTo>
                <a:lnTo>
                  <a:pt x="7799" y="10400"/>
                </a:lnTo>
                <a:cubicBezTo>
                  <a:pt x="6310" y="10397"/>
                  <a:pt x="5108" y="9154"/>
                  <a:pt x="5168" y="7652"/>
                </a:cubicBezTo>
                <a:cubicBezTo>
                  <a:pt x="5226" y="6223"/>
                  <a:pt x="6448" y="5117"/>
                  <a:pt x="7878" y="5120"/>
                </a:cubicBezTo>
                <a:lnTo>
                  <a:pt x="17523" y="5145"/>
                </a:lnTo>
                <a:cubicBezTo>
                  <a:pt x="17780" y="5145"/>
                  <a:pt x="18015" y="4996"/>
                  <a:pt x="18122" y="4762"/>
                </a:cubicBezTo>
                <a:lnTo>
                  <a:pt x="20314" y="9"/>
                </a:lnTo>
                <a:lnTo>
                  <a:pt x="7924" y="7"/>
                </a:lnTo>
                <a:cubicBezTo>
                  <a:pt x="3655" y="-4"/>
                  <a:pt x="105" y="3396"/>
                  <a:pt x="53" y="7664"/>
                </a:cubicBezTo>
                <a:cubicBezTo>
                  <a:pt x="0" y="11975"/>
                  <a:pt x="3486" y="15504"/>
                  <a:pt x="7787" y="15514"/>
                </a:cubicBezTo>
                <a:lnTo>
                  <a:pt x="12364" y="15525"/>
                </a:lnTo>
                <a:cubicBezTo>
                  <a:pt x="12847" y="15527"/>
                  <a:pt x="13287" y="15246"/>
                  <a:pt x="13490" y="14807"/>
                </a:cubicBezTo>
                <a:lnTo>
                  <a:pt x="14781" y="12006"/>
                </a:lnTo>
                <a:cubicBezTo>
                  <a:pt x="15143" y="11222"/>
                  <a:pt x="15928" y="10721"/>
                  <a:pt x="16791" y="10723"/>
                </a:cubicBezTo>
                <a:lnTo>
                  <a:pt x="23236" y="10739"/>
                </a:lnTo>
                <a:cubicBezTo>
                  <a:pt x="24665" y="10743"/>
                  <a:pt x="25882" y="11855"/>
                  <a:pt x="25933" y="13284"/>
                </a:cubicBezTo>
                <a:cubicBezTo>
                  <a:pt x="25986" y="14786"/>
                  <a:pt x="24777" y="16023"/>
                  <a:pt x="23288" y="16020"/>
                </a:cubicBezTo>
                <a:lnTo>
                  <a:pt x="13392" y="15995"/>
                </a:lnTo>
                <a:cubicBezTo>
                  <a:pt x="12940" y="15994"/>
                  <a:pt x="12530" y="16256"/>
                  <a:pt x="12341" y="16666"/>
                </a:cubicBezTo>
                <a:lnTo>
                  <a:pt x="10940" y="19703"/>
                </a:lnTo>
                <a:cubicBezTo>
                  <a:pt x="10621" y="20395"/>
                  <a:pt x="9927" y="20838"/>
                  <a:pt x="9164" y="20836"/>
                </a:cubicBezTo>
                <a:lnTo>
                  <a:pt x="3836" y="20823"/>
                </a:lnTo>
                <a:cubicBezTo>
                  <a:pt x="3526" y="20822"/>
                  <a:pt x="3245" y="21002"/>
                  <a:pt x="3115" y="21283"/>
                </a:cubicBezTo>
                <a:lnTo>
                  <a:pt x="968" y="25929"/>
                </a:lnTo>
                <a:lnTo>
                  <a:pt x="6622" y="25943"/>
                </a:lnTo>
                <a:cubicBezTo>
                  <a:pt x="7672" y="25946"/>
                  <a:pt x="8628" y="25336"/>
                  <a:pt x="9069" y="24382"/>
                </a:cubicBezTo>
                <a:lnTo>
                  <a:pt x="10057" y="22238"/>
                </a:lnTo>
                <a:cubicBezTo>
                  <a:pt x="10376" y="21545"/>
                  <a:pt x="11069" y="21127"/>
                  <a:pt x="11831" y="21129"/>
                </a:cubicBezTo>
                <a:lnTo>
                  <a:pt x="23275" y="21129"/>
                </a:lnTo>
                <a:cubicBezTo>
                  <a:pt x="27590" y="21139"/>
                  <a:pt x="31100" y="17611"/>
                  <a:pt x="31047" y="13282"/>
                </a:cubicBezTo>
                <a:cubicBezTo>
                  <a:pt x="30995" y="9026"/>
                  <a:pt x="27452" y="5636"/>
                  <a:pt x="23195" y="5625"/>
                </a:cubicBezTo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tx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hift - Oliv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DECK TITLE</a:t>
            </a:r>
          </a:p>
        </p:txBody>
      </p:sp>
      <p:sp>
        <p:nvSpPr>
          <p:cNvPr id="4" name="Shift icon"/>
          <p:cNvSpPr/>
          <p:nvPr/>
        </p:nvSpPr>
        <p:spPr>
          <a:xfrm>
            <a:off x="11271475" y="475486"/>
            <a:ext cx="414526" cy="345883"/>
          </a:xfrm>
          <a:custGeom>
            <a:avLst/>
            <a:gdLst/>
            <a:ahLst/>
            <a:cxnLst/>
            <a:rect l="0" t="0" r="r" b="b"/>
            <a:pathLst>
              <a:path w="31100" h="25950">
                <a:moveTo>
                  <a:pt x="23195" y="5625"/>
                </a:moveTo>
                <a:lnTo>
                  <a:pt x="18380" y="5613"/>
                </a:lnTo>
                <a:cubicBezTo>
                  <a:pt x="17807" y="5612"/>
                  <a:pt x="17285" y="5945"/>
                  <a:pt x="17045" y="6466"/>
                </a:cubicBezTo>
                <a:lnTo>
                  <a:pt x="15815" y="9133"/>
                </a:lnTo>
                <a:cubicBezTo>
                  <a:pt x="15453" y="9916"/>
                  <a:pt x="14668" y="10418"/>
                  <a:pt x="13805" y="10416"/>
                </a:cubicBezTo>
                <a:lnTo>
                  <a:pt x="7799" y="10400"/>
                </a:lnTo>
                <a:cubicBezTo>
                  <a:pt x="6310" y="10397"/>
                  <a:pt x="5108" y="9154"/>
                  <a:pt x="5168" y="7652"/>
                </a:cubicBezTo>
                <a:cubicBezTo>
                  <a:pt x="5226" y="6223"/>
                  <a:pt x="6448" y="5117"/>
                  <a:pt x="7878" y="5120"/>
                </a:cubicBezTo>
                <a:lnTo>
                  <a:pt x="17523" y="5145"/>
                </a:lnTo>
                <a:cubicBezTo>
                  <a:pt x="17780" y="5145"/>
                  <a:pt x="18015" y="4996"/>
                  <a:pt x="18122" y="4762"/>
                </a:cubicBezTo>
                <a:lnTo>
                  <a:pt x="20314" y="9"/>
                </a:lnTo>
                <a:lnTo>
                  <a:pt x="7924" y="7"/>
                </a:lnTo>
                <a:cubicBezTo>
                  <a:pt x="3655" y="-4"/>
                  <a:pt x="105" y="3396"/>
                  <a:pt x="53" y="7664"/>
                </a:cubicBezTo>
                <a:cubicBezTo>
                  <a:pt x="0" y="11975"/>
                  <a:pt x="3486" y="15504"/>
                  <a:pt x="7787" y="15514"/>
                </a:cubicBezTo>
                <a:lnTo>
                  <a:pt x="12364" y="15525"/>
                </a:lnTo>
                <a:cubicBezTo>
                  <a:pt x="12847" y="15527"/>
                  <a:pt x="13287" y="15246"/>
                  <a:pt x="13490" y="14807"/>
                </a:cubicBezTo>
                <a:lnTo>
                  <a:pt x="14781" y="12006"/>
                </a:lnTo>
                <a:cubicBezTo>
                  <a:pt x="15143" y="11222"/>
                  <a:pt x="15928" y="10721"/>
                  <a:pt x="16791" y="10723"/>
                </a:cubicBezTo>
                <a:lnTo>
                  <a:pt x="23236" y="10739"/>
                </a:lnTo>
                <a:cubicBezTo>
                  <a:pt x="24665" y="10743"/>
                  <a:pt x="25882" y="11855"/>
                  <a:pt x="25933" y="13284"/>
                </a:cubicBezTo>
                <a:cubicBezTo>
                  <a:pt x="25986" y="14786"/>
                  <a:pt x="24777" y="16023"/>
                  <a:pt x="23288" y="16020"/>
                </a:cubicBezTo>
                <a:lnTo>
                  <a:pt x="13392" y="15995"/>
                </a:lnTo>
                <a:cubicBezTo>
                  <a:pt x="12940" y="15994"/>
                  <a:pt x="12530" y="16256"/>
                  <a:pt x="12341" y="16666"/>
                </a:cubicBezTo>
                <a:lnTo>
                  <a:pt x="10940" y="19703"/>
                </a:lnTo>
                <a:cubicBezTo>
                  <a:pt x="10621" y="20395"/>
                  <a:pt x="9927" y="20838"/>
                  <a:pt x="9164" y="20836"/>
                </a:cubicBezTo>
                <a:lnTo>
                  <a:pt x="3836" y="20823"/>
                </a:lnTo>
                <a:cubicBezTo>
                  <a:pt x="3526" y="20822"/>
                  <a:pt x="3245" y="21002"/>
                  <a:pt x="3115" y="21283"/>
                </a:cubicBezTo>
                <a:lnTo>
                  <a:pt x="968" y="25929"/>
                </a:lnTo>
                <a:lnTo>
                  <a:pt x="6622" y="25943"/>
                </a:lnTo>
                <a:cubicBezTo>
                  <a:pt x="7672" y="25946"/>
                  <a:pt x="8628" y="25336"/>
                  <a:pt x="9069" y="24382"/>
                </a:cubicBezTo>
                <a:lnTo>
                  <a:pt x="10057" y="22238"/>
                </a:lnTo>
                <a:cubicBezTo>
                  <a:pt x="10376" y="21545"/>
                  <a:pt x="11069" y="21127"/>
                  <a:pt x="11831" y="21129"/>
                </a:cubicBezTo>
                <a:lnTo>
                  <a:pt x="23275" y="21129"/>
                </a:lnTo>
                <a:cubicBezTo>
                  <a:pt x="27590" y="21139"/>
                  <a:pt x="31100" y="17611"/>
                  <a:pt x="31047" y="13282"/>
                </a:cubicBezTo>
                <a:cubicBezTo>
                  <a:pt x="30995" y="9026"/>
                  <a:pt x="27452" y="5636"/>
                  <a:pt x="23195" y="5625"/>
                </a:cubicBezTo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tx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hift - Washe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bg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bg1"/>
                </a:solidFill>
              </a:rPr>
              <a:t>DECK TITLE</a:t>
            </a:r>
          </a:p>
        </p:txBody>
      </p:sp>
      <p:sp>
        <p:nvSpPr>
          <p:cNvPr id="4" name="Shift icon"/>
          <p:cNvSpPr/>
          <p:nvPr/>
        </p:nvSpPr>
        <p:spPr>
          <a:xfrm>
            <a:off x="11271475" y="475486"/>
            <a:ext cx="414526" cy="345883"/>
          </a:xfrm>
          <a:custGeom>
            <a:avLst/>
            <a:gdLst/>
            <a:ahLst/>
            <a:cxnLst/>
            <a:rect l="0" t="0" r="r" b="b"/>
            <a:pathLst>
              <a:path w="31100" h="25950">
                <a:moveTo>
                  <a:pt x="23195" y="5625"/>
                </a:moveTo>
                <a:lnTo>
                  <a:pt x="18380" y="5613"/>
                </a:lnTo>
                <a:cubicBezTo>
                  <a:pt x="17807" y="5612"/>
                  <a:pt x="17285" y="5945"/>
                  <a:pt x="17045" y="6466"/>
                </a:cubicBezTo>
                <a:lnTo>
                  <a:pt x="15815" y="9133"/>
                </a:lnTo>
                <a:cubicBezTo>
                  <a:pt x="15453" y="9916"/>
                  <a:pt x="14668" y="10418"/>
                  <a:pt x="13805" y="10416"/>
                </a:cubicBezTo>
                <a:lnTo>
                  <a:pt x="7799" y="10400"/>
                </a:lnTo>
                <a:cubicBezTo>
                  <a:pt x="6310" y="10397"/>
                  <a:pt x="5108" y="9154"/>
                  <a:pt x="5168" y="7652"/>
                </a:cubicBezTo>
                <a:cubicBezTo>
                  <a:pt x="5226" y="6223"/>
                  <a:pt x="6448" y="5117"/>
                  <a:pt x="7878" y="5120"/>
                </a:cubicBezTo>
                <a:lnTo>
                  <a:pt x="17523" y="5145"/>
                </a:lnTo>
                <a:cubicBezTo>
                  <a:pt x="17780" y="5145"/>
                  <a:pt x="18015" y="4996"/>
                  <a:pt x="18122" y="4762"/>
                </a:cubicBezTo>
                <a:lnTo>
                  <a:pt x="20314" y="9"/>
                </a:lnTo>
                <a:lnTo>
                  <a:pt x="7924" y="7"/>
                </a:lnTo>
                <a:cubicBezTo>
                  <a:pt x="3655" y="-4"/>
                  <a:pt x="105" y="3396"/>
                  <a:pt x="53" y="7664"/>
                </a:cubicBezTo>
                <a:cubicBezTo>
                  <a:pt x="0" y="11975"/>
                  <a:pt x="3486" y="15504"/>
                  <a:pt x="7787" y="15514"/>
                </a:cubicBezTo>
                <a:lnTo>
                  <a:pt x="12364" y="15525"/>
                </a:lnTo>
                <a:cubicBezTo>
                  <a:pt x="12847" y="15527"/>
                  <a:pt x="13287" y="15246"/>
                  <a:pt x="13490" y="14807"/>
                </a:cubicBezTo>
                <a:lnTo>
                  <a:pt x="14781" y="12006"/>
                </a:lnTo>
                <a:cubicBezTo>
                  <a:pt x="15143" y="11222"/>
                  <a:pt x="15928" y="10721"/>
                  <a:pt x="16791" y="10723"/>
                </a:cubicBezTo>
                <a:lnTo>
                  <a:pt x="23236" y="10739"/>
                </a:lnTo>
                <a:cubicBezTo>
                  <a:pt x="24665" y="10743"/>
                  <a:pt x="25882" y="11855"/>
                  <a:pt x="25933" y="13284"/>
                </a:cubicBezTo>
                <a:cubicBezTo>
                  <a:pt x="25986" y="14786"/>
                  <a:pt x="24777" y="16023"/>
                  <a:pt x="23288" y="16020"/>
                </a:cubicBezTo>
                <a:lnTo>
                  <a:pt x="13392" y="15995"/>
                </a:lnTo>
                <a:cubicBezTo>
                  <a:pt x="12940" y="15994"/>
                  <a:pt x="12530" y="16256"/>
                  <a:pt x="12341" y="16666"/>
                </a:cubicBezTo>
                <a:lnTo>
                  <a:pt x="10940" y="19703"/>
                </a:lnTo>
                <a:cubicBezTo>
                  <a:pt x="10621" y="20395"/>
                  <a:pt x="9927" y="20838"/>
                  <a:pt x="9164" y="20836"/>
                </a:cubicBezTo>
                <a:lnTo>
                  <a:pt x="3836" y="20823"/>
                </a:lnTo>
                <a:cubicBezTo>
                  <a:pt x="3526" y="20822"/>
                  <a:pt x="3245" y="21002"/>
                  <a:pt x="3115" y="21283"/>
                </a:cubicBezTo>
                <a:lnTo>
                  <a:pt x="968" y="25929"/>
                </a:lnTo>
                <a:lnTo>
                  <a:pt x="6622" y="25943"/>
                </a:lnTo>
                <a:cubicBezTo>
                  <a:pt x="7672" y="25946"/>
                  <a:pt x="8628" y="25336"/>
                  <a:pt x="9069" y="24382"/>
                </a:cubicBezTo>
                <a:lnTo>
                  <a:pt x="10057" y="22238"/>
                </a:lnTo>
                <a:cubicBezTo>
                  <a:pt x="10376" y="21545"/>
                  <a:pt x="11069" y="21127"/>
                  <a:pt x="11831" y="21129"/>
                </a:cubicBezTo>
                <a:lnTo>
                  <a:pt x="23275" y="21129"/>
                </a:lnTo>
                <a:cubicBezTo>
                  <a:pt x="27590" y="21139"/>
                  <a:pt x="31100" y="17611"/>
                  <a:pt x="31047" y="13282"/>
                </a:cubicBezTo>
                <a:cubicBezTo>
                  <a:pt x="30995" y="9026"/>
                  <a:pt x="27452" y="5636"/>
                  <a:pt x="23195" y="5625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bg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hift - Cream (no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DECK TITLE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tx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ift - Lumber (no logo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DECK TITLE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tx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hift - Slate (no logo)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DECK TITLE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tx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hift - Olive (no logo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DECK TITLE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tx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hift - Washed Black (no logo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company"/>
          <p:cNvSpPr txBox="1"/>
          <p:nvPr/>
        </p:nvSpPr>
        <p:spPr>
          <a:xfrm>
            <a:off x="505966" y="6291056"/>
            <a:ext cx="2194554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bg1"/>
                </a:solidFill>
              </a:rPr>
              <a:t>SHIFT PROJECTS</a:t>
            </a:r>
          </a:p>
        </p:txBody>
      </p:sp>
      <p:sp>
        <p:nvSpPr>
          <p:cNvPr id="4" name="Footer deck title"/>
          <p:cNvSpPr txBox="1"/>
          <p:nvPr/>
        </p:nvSpPr>
        <p:spPr>
          <a:xfrm>
            <a:off x="2810248" y="629105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bg1"/>
                </a:solidFill>
              </a:rPr>
              <a:t>DECK TITLE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9753575" y="6291056"/>
            <a:ext cx="193242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A-801E-634DDDAF4B2B}" type="slidenum">
              <a:rPr lang="en-US" sz="1000" b="1" spc="160">
                <a:solidFill>
                  <a:schemeClr val="bg1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5966" y="438910"/>
            <a:ext cx="9753575" cy="390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0" spc="-200">
                <a:solidFill>
                  <a:schemeClr val="tx1"/>
                </a:solidFill>
                <a:latin typeface="+mj-lt"/>
              </a:rPr>
              <a:t>Presentation</a:t>
            </a:r>
          </a:p>
          <a:p>
            <a:pPr algn="l">
              <a:lnSpc>
                <a:spcPct val="85000"/>
              </a:lnSpc>
            </a:pPr>
            <a:r>
              <a:rPr sz="11000" b="0" spc="-200">
                <a:solidFill>
                  <a:schemeClr val="tx1"/>
                </a:solidFill>
                <a:latin typeface="+mj-lt"/>
              </a:rPr>
              <a:t>Title</a:t>
            </a:r>
          </a:p>
        </p:txBody>
      </p:sp>
      <p:sp>
        <p:nvSpPr>
          <p:cNvPr id="3" name="Linear graphic"/>
          <p:cNvSpPr/>
          <p:nvPr/>
        </p:nvSpPr>
        <p:spPr>
          <a:xfrm>
            <a:off x="6583663" y="3230871"/>
            <a:ext cx="5608305" cy="2946634"/>
          </a:xfrm>
          <a:custGeom>
            <a:avLst/>
            <a:gdLst/>
            <a:ahLst/>
            <a:cxnLst/>
            <a:rect l="0" t="0" r="r" b="b"/>
            <a:pathLst>
              <a:path w="111000" h="58320">
                <a:moveTo>
                  <a:pt x="111003" y="36120"/>
                </a:moveTo>
                <a:lnTo>
                  <a:pt x="56841" y="36120"/>
                </a:lnTo>
                <a:cubicBezTo>
                  <a:pt x="55593" y="36120"/>
                  <a:pt x="54458" y="36841"/>
                  <a:pt x="53927" y="37971"/>
                </a:cubicBezTo>
                <a:lnTo>
                  <a:pt x="51027" y="44151"/>
                </a:lnTo>
                <a:cubicBezTo>
                  <a:pt x="50257" y="45793"/>
                  <a:pt x="48607" y="46842"/>
                  <a:pt x="46793" y="46842"/>
                </a:cubicBezTo>
                <a:lnTo>
                  <a:pt x="0" y="46843"/>
                </a:lnTo>
                <a:lnTo>
                  <a:pt x="0" y="58326"/>
                </a:lnTo>
                <a:lnTo>
                  <a:pt x="42331" y="58326"/>
                </a:lnTo>
                <a:cubicBezTo>
                  <a:pt x="43579" y="58326"/>
                  <a:pt x="44714" y="57604"/>
                  <a:pt x="45245" y="56474"/>
                </a:cubicBezTo>
                <a:lnTo>
                  <a:pt x="48178" y="50222"/>
                </a:lnTo>
                <a:cubicBezTo>
                  <a:pt x="48929" y="48624"/>
                  <a:pt x="50535" y="47603"/>
                  <a:pt x="52300" y="47603"/>
                </a:cubicBezTo>
                <a:lnTo>
                  <a:pt x="111003" y="47602"/>
                </a:lnTo>
                <a:close/>
                <a:moveTo>
                  <a:pt x="111003" y="36120"/>
                </a:moveTo>
                <a:moveTo>
                  <a:pt x="111003" y="12701"/>
                </a:moveTo>
                <a:lnTo>
                  <a:pt x="68900" y="12701"/>
                </a:lnTo>
                <a:cubicBezTo>
                  <a:pt x="67652" y="12701"/>
                  <a:pt x="66516" y="13423"/>
                  <a:pt x="65986" y="14552"/>
                </a:cubicBezTo>
                <a:lnTo>
                  <a:pt x="63086" y="20733"/>
                </a:lnTo>
                <a:cubicBezTo>
                  <a:pt x="62316" y="22375"/>
                  <a:pt x="60666" y="23423"/>
                  <a:pt x="58852" y="23423"/>
                </a:cubicBezTo>
                <a:lnTo>
                  <a:pt x="52651" y="23423"/>
                </a:lnTo>
                <a:lnTo>
                  <a:pt x="0" y="23424"/>
                </a:lnTo>
                <a:lnTo>
                  <a:pt x="0" y="34907"/>
                </a:lnTo>
                <a:lnTo>
                  <a:pt x="54389" y="34907"/>
                </a:lnTo>
                <a:cubicBezTo>
                  <a:pt x="55638" y="34907"/>
                  <a:pt x="56773" y="34185"/>
                  <a:pt x="57304" y="33056"/>
                </a:cubicBezTo>
                <a:lnTo>
                  <a:pt x="60237" y="26804"/>
                </a:lnTo>
                <a:cubicBezTo>
                  <a:pt x="60987" y="25206"/>
                  <a:pt x="62594" y="24185"/>
                  <a:pt x="64359" y="24185"/>
                </a:cubicBezTo>
                <a:lnTo>
                  <a:pt x="111003" y="24184"/>
                </a:lnTo>
                <a:close/>
                <a:moveTo>
                  <a:pt x="111003" y="12701"/>
                </a:moveTo>
                <a:moveTo>
                  <a:pt x="0" y="6"/>
                </a:moveTo>
                <a:lnTo>
                  <a:pt x="0" y="11488"/>
                </a:lnTo>
                <a:lnTo>
                  <a:pt x="66448" y="11488"/>
                </a:lnTo>
                <a:cubicBezTo>
                  <a:pt x="67696" y="11488"/>
                  <a:pt x="68832" y="10767"/>
                  <a:pt x="69362" y="9637"/>
                </a:cubicBezTo>
                <a:lnTo>
                  <a:pt x="73151" y="1505"/>
                </a:lnTo>
                <a:cubicBezTo>
                  <a:pt x="73477" y="806"/>
                  <a:pt x="72966" y="5"/>
                  <a:pt x="72195" y="5"/>
                </a:cubicBezTo>
                <a:close/>
                <a:moveTo>
                  <a:pt x="0" y="6"/>
                </a:moveTo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5966" y="438910"/>
            <a:ext cx="8534378" cy="390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0" spc="-200">
                <a:solidFill>
                  <a:schemeClr val="tx1"/>
                </a:solidFill>
                <a:latin typeface="+mj-lt"/>
              </a:rPr>
              <a:t>Section</a:t>
            </a:r>
          </a:p>
          <a:p>
            <a:pPr algn="l">
              <a:lnSpc>
                <a:spcPct val="85000"/>
              </a:lnSpc>
            </a:pPr>
            <a:r>
              <a:rPr sz="11000" b="0" spc="-200">
                <a:solidFill>
                  <a:schemeClr val="tx1"/>
                </a:solidFill>
                <a:latin typeface="+mj-lt"/>
              </a:rPr>
              <a:t>Name</a:t>
            </a:r>
          </a:p>
        </p:txBody>
      </p:sp>
      <p:sp>
        <p:nvSpPr>
          <p:cNvPr id="3" name="Section number"/>
          <p:cNvSpPr txBox="1"/>
          <p:nvPr/>
        </p:nvSpPr>
        <p:spPr>
          <a:xfrm>
            <a:off x="7071342" y="438910"/>
            <a:ext cx="3718550" cy="170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0" b="0" spc="-200">
                <a:solidFill>
                  <a:schemeClr val="tx1"/>
                </a:solidFill>
                <a:latin typeface="+mj-lt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INTRODUCTION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/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5364466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Welcome to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the Shift Projects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presentation.</a:t>
            </a:r>
          </a:p>
        </p:txBody>
      </p:sp>
      <p:sp>
        <p:nvSpPr>
          <p:cNvPr id="6" name="Intro"/>
          <p:cNvSpPr txBox="1"/>
          <p:nvPr/>
        </p:nvSpPr>
        <p:spPr>
          <a:xfrm>
            <a:off x="505966" y="4023349"/>
            <a:ext cx="3413751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A short line that tells the audience what this deck covers and why it matters to them.</a:t>
            </a:r>
          </a:p>
        </p:txBody>
      </p:sp>
      <p:sp>
        <p:nvSpPr>
          <p:cNvPr id="7" name="Agenda 01 number"/>
          <p:cNvSpPr txBox="1"/>
          <p:nvPr/>
        </p:nvSpPr>
        <p:spPr>
          <a:xfrm>
            <a:off x="6217904" y="1487420"/>
            <a:ext cx="176783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8" name="Agenda 01 title"/>
          <p:cNvSpPr txBox="1"/>
          <p:nvPr/>
        </p:nvSpPr>
        <p:spPr>
          <a:xfrm>
            <a:off x="6217904" y="1853179"/>
            <a:ext cx="1767835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ABOUT</a:t>
            </a:r>
          </a:p>
        </p:txBody>
      </p:sp>
      <p:sp>
        <p:nvSpPr>
          <p:cNvPr id="9" name="Agenda 01 items"/>
          <p:cNvSpPr txBox="1"/>
          <p:nvPr/>
        </p:nvSpPr>
        <p:spPr>
          <a:xfrm>
            <a:off x="6217904" y="2340858"/>
            <a:ext cx="1767835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chemeClr val="tx1"/>
                </a:solidFill>
              </a:rPr>
              <a:t>Story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chemeClr val="tx1"/>
                </a:solidFill>
              </a:rPr>
              <a:t>Goals</a:t>
            </a:r>
          </a:p>
        </p:txBody>
      </p:sp>
      <p:sp>
        <p:nvSpPr>
          <p:cNvPr id="10" name="Agenda 02 number"/>
          <p:cNvSpPr txBox="1"/>
          <p:nvPr/>
        </p:nvSpPr>
        <p:spPr>
          <a:xfrm>
            <a:off x="8168619" y="1487420"/>
            <a:ext cx="176783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02</a:t>
            </a:r>
          </a:p>
        </p:txBody>
      </p:sp>
      <p:sp>
        <p:nvSpPr>
          <p:cNvPr id="11" name="Agenda 02 title"/>
          <p:cNvSpPr txBox="1"/>
          <p:nvPr/>
        </p:nvSpPr>
        <p:spPr>
          <a:xfrm>
            <a:off x="8168619" y="1853179"/>
            <a:ext cx="1767835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APPROACH</a:t>
            </a:r>
          </a:p>
        </p:txBody>
      </p:sp>
      <p:sp>
        <p:nvSpPr>
          <p:cNvPr id="12" name="Agenda 02 items"/>
          <p:cNvSpPr txBox="1"/>
          <p:nvPr/>
        </p:nvSpPr>
        <p:spPr>
          <a:xfrm>
            <a:off x="8168619" y="2340858"/>
            <a:ext cx="1767835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chemeClr val="tx1"/>
                </a:solidFill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chemeClr val="tx1"/>
                </a:solidFill>
              </a:rPr>
              <a:t>Timeline</a:t>
            </a:r>
          </a:p>
        </p:txBody>
      </p:sp>
      <p:sp>
        <p:nvSpPr>
          <p:cNvPr id="13" name="Agenda 03 number"/>
          <p:cNvSpPr txBox="1"/>
          <p:nvPr/>
        </p:nvSpPr>
        <p:spPr>
          <a:xfrm>
            <a:off x="10119334" y="1487420"/>
            <a:ext cx="176783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14" name="Agenda 03 title"/>
          <p:cNvSpPr txBox="1"/>
          <p:nvPr/>
        </p:nvSpPr>
        <p:spPr>
          <a:xfrm>
            <a:off x="10119334" y="1853179"/>
            <a:ext cx="1767835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5" name="Agenda 03 items"/>
          <p:cNvSpPr txBox="1"/>
          <p:nvPr/>
        </p:nvSpPr>
        <p:spPr>
          <a:xfrm>
            <a:off x="10119334" y="2340858"/>
            <a:ext cx="1767835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chemeClr val="tx1"/>
                </a:solidFill>
              </a:rPr>
              <a:t>Highlights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chemeClr val="tx1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1.1 SUBSECTION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6339824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Built for today,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ready for tomorrow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559021" y="1475228"/>
            <a:ext cx="4145269" cy="170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Supporting copy goes here. Use clear, direct language and keep it to a short paragraph.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1.2 GOALS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3657590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Our goals</a:t>
            </a:r>
          </a:p>
        </p:txBody>
      </p:sp>
      <p:sp>
        <p:nvSpPr>
          <p:cNvPr id="6" name="Goal 1 number"/>
          <p:cNvSpPr txBox="1"/>
          <p:nvPr/>
        </p:nvSpPr>
        <p:spPr>
          <a:xfrm>
            <a:off x="4328149" y="2682233"/>
            <a:ext cx="17068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1.</a:t>
            </a:r>
          </a:p>
        </p:txBody>
      </p:sp>
      <p:sp>
        <p:nvSpPr>
          <p:cNvPr id="7" name="Goal 1 text"/>
          <p:cNvSpPr txBox="1"/>
          <p:nvPr/>
        </p:nvSpPr>
        <p:spPr>
          <a:xfrm>
            <a:off x="4328149" y="3096760"/>
            <a:ext cx="1706875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First goal, one or two lines.</a:t>
            </a:r>
          </a:p>
        </p:txBody>
      </p:sp>
      <p:sp>
        <p:nvSpPr>
          <p:cNvPr id="8" name="Goal 2 number"/>
          <p:cNvSpPr txBox="1"/>
          <p:nvPr/>
        </p:nvSpPr>
        <p:spPr>
          <a:xfrm>
            <a:off x="6230096" y="2682233"/>
            <a:ext cx="17068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9" name="Goal 2 text"/>
          <p:cNvSpPr txBox="1"/>
          <p:nvPr/>
        </p:nvSpPr>
        <p:spPr>
          <a:xfrm>
            <a:off x="6230096" y="3096760"/>
            <a:ext cx="1706875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Second goal, one or two lines.</a:t>
            </a:r>
          </a:p>
        </p:txBody>
      </p:sp>
      <p:sp>
        <p:nvSpPr>
          <p:cNvPr id="10" name="Goal 3 number"/>
          <p:cNvSpPr txBox="1"/>
          <p:nvPr/>
        </p:nvSpPr>
        <p:spPr>
          <a:xfrm>
            <a:off x="8132043" y="2682233"/>
            <a:ext cx="17068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3.</a:t>
            </a:r>
          </a:p>
        </p:txBody>
      </p:sp>
      <p:sp>
        <p:nvSpPr>
          <p:cNvPr id="11" name="Goal 3 text"/>
          <p:cNvSpPr txBox="1"/>
          <p:nvPr/>
        </p:nvSpPr>
        <p:spPr>
          <a:xfrm>
            <a:off x="8132043" y="3096760"/>
            <a:ext cx="1706875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Third goal, one or two lines.</a:t>
            </a:r>
          </a:p>
        </p:txBody>
      </p:sp>
      <p:sp>
        <p:nvSpPr>
          <p:cNvPr id="12" name="Goal 4 number"/>
          <p:cNvSpPr txBox="1"/>
          <p:nvPr/>
        </p:nvSpPr>
        <p:spPr>
          <a:xfrm>
            <a:off x="10033990" y="2682233"/>
            <a:ext cx="17068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4.</a:t>
            </a:r>
          </a:p>
        </p:txBody>
      </p:sp>
      <p:sp>
        <p:nvSpPr>
          <p:cNvPr id="13" name="Goal 4 text"/>
          <p:cNvSpPr txBox="1"/>
          <p:nvPr/>
        </p:nvSpPr>
        <p:spPr>
          <a:xfrm>
            <a:off x="10033990" y="3096760"/>
            <a:ext cx="1706875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Fourth goal, one or two 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2.6 TAGLINE</a:t>
            </a:r>
          </a:p>
        </p:txBody>
      </p:sp>
      <p:sp>
        <p:nvSpPr>
          <p:cNvPr id="5" name="Statement"/>
          <p:cNvSpPr txBox="1"/>
          <p:nvPr/>
        </p:nvSpPr>
        <p:spPr>
          <a:xfrm>
            <a:off x="536446" y="1463036"/>
            <a:ext cx="9265896" cy="4876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10800" b="0" spc="-200">
                <a:solidFill>
                  <a:schemeClr val="tx1"/>
                </a:solidFill>
                <a:latin typeface="+mj-lt"/>
              </a:rPr>
              <a:t>Homes built for today, ready for tomorrow.</a:t>
            </a:r>
          </a:p>
        </p:txBody>
      </p:sp>
      <p:sp>
        <p:nvSpPr>
          <p:cNvPr id="6" name="Supporting text"/>
          <p:cNvSpPr txBox="1"/>
          <p:nvPr/>
        </p:nvSpPr>
        <p:spPr>
          <a:xfrm>
            <a:off x="9753575" y="3352791"/>
            <a:ext cx="1926331" cy="170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A short supporting paragraph, four or five lines at most.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bg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bg1"/>
                </a:solidFill>
              </a:rPr>
              <a:t>KEY FIGURE</a:t>
            </a:r>
          </a:p>
        </p:txBody>
      </p:sp>
      <p:sp>
        <p:nvSpPr>
          <p:cNvPr id="5" name="Band 1"/>
          <p:cNvSpPr/>
          <p:nvPr/>
        </p:nvSpPr>
        <p:spPr>
          <a:xfrm>
            <a:off x="0" y="2682233"/>
            <a:ext cx="12191969" cy="78028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nd 2"/>
          <p:cNvSpPr/>
          <p:nvPr/>
        </p:nvSpPr>
        <p:spPr>
          <a:xfrm>
            <a:off x="0" y="3840470"/>
            <a:ext cx="12191969" cy="78028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ey figure"/>
          <p:cNvSpPr txBox="1"/>
          <p:nvPr/>
        </p:nvSpPr>
        <p:spPr>
          <a:xfrm>
            <a:off x="505966" y="707134"/>
            <a:ext cx="9753575" cy="1950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spc="-200">
                <a:solidFill>
                  <a:schemeClr val="bg1"/>
                </a:solidFill>
                <a:latin typeface="+mj-lt"/>
              </a:rPr>
              <a:t>100%</a:t>
            </a:r>
          </a:p>
        </p:txBody>
      </p:sp>
      <p:sp>
        <p:nvSpPr>
          <p:cNvPr id="8" name="Caption"/>
          <p:cNvSpPr txBox="1"/>
          <p:nvPr/>
        </p:nvSpPr>
        <p:spPr>
          <a:xfrm>
            <a:off x="505966" y="5059667"/>
            <a:ext cx="5364466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chemeClr val="bg1"/>
                </a:solidFill>
              </a:rPr>
              <a:t>What the number means, in one plain sentence.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4876787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The numbers,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plainly</a:t>
            </a:r>
          </a:p>
        </p:txBody>
      </p:sp>
      <p:cxnSp>
        <p:nvCxnSpPr>
          <p:cNvPr id="6" name="Stat 1 rule"/>
          <p:cNvCxnSpPr/>
          <p:nvPr/>
        </p:nvCxnSpPr>
        <p:spPr>
          <a:xfrm>
            <a:off x="505966" y="3291831"/>
            <a:ext cx="3596631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7" name="Stat 1 number"/>
          <p:cNvSpPr txBox="1"/>
          <p:nvPr/>
        </p:nvSpPr>
        <p:spPr>
          <a:xfrm>
            <a:off x="505966" y="3462519"/>
            <a:ext cx="3596631" cy="146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spc="-100">
                <a:solidFill>
                  <a:schemeClr val="tx1"/>
                </a:solidFill>
                <a:latin typeface="+mj-lt"/>
              </a:rPr>
              <a:t>24</a:t>
            </a:r>
          </a:p>
        </p:txBody>
      </p:sp>
      <p:sp>
        <p:nvSpPr>
          <p:cNvPr id="8" name="Stat 1 label"/>
          <p:cNvSpPr txBox="1"/>
          <p:nvPr/>
        </p:nvSpPr>
        <p:spPr>
          <a:xfrm>
            <a:off x="505966" y="4974323"/>
            <a:ext cx="3596631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60">
                <a:solidFill>
                  <a:schemeClr val="tx1"/>
                </a:solidFill>
              </a:rPr>
              <a:t>PROJECTS DELIVERED</a:t>
            </a:r>
          </a:p>
        </p:txBody>
      </p:sp>
      <p:sp>
        <p:nvSpPr>
          <p:cNvPr id="9" name="Stat 1 context"/>
          <p:cNvSpPr txBox="1"/>
          <p:nvPr/>
        </p:nvSpPr>
        <p:spPr>
          <a:xfrm>
            <a:off x="505966" y="5340082"/>
            <a:ext cx="3596631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60000"/>
                    <a:lumOff val="40000"/>
                  </a:schemeClr>
                </a:solidFill>
              </a:rPr>
              <a:t>One line of context for the figure.</a:t>
            </a:r>
          </a:p>
        </p:txBody>
      </p:sp>
      <p:cxnSp>
        <p:nvCxnSpPr>
          <p:cNvPr id="10" name="Stat 2 rule"/>
          <p:cNvCxnSpPr/>
          <p:nvPr/>
        </p:nvCxnSpPr>
        <p:spPr>
          <a:xfrm>
            <a:off x="4358629" y="3291831"/>
            <a:ext cx="3596631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1" name="Stat 2 number"/>
          <p:cNvSpPr txBox="1"/>
          <p:nvPr/>
        </p:nvSpPr>
        <p:spPr>
          <a:xfrm>
            <a:off x="4358629" y="3462519"/>
            <a:ext cx="3596631" cy="146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spc="-100">
                <a:solidFill>
                  <a:schemeClr val="tx1"/>
                </a:solidFill>
                <a:latin typeface="+mj-lt"/>
              </a:rPr>
              <a:t>98%</a:t>
            </a:r>
          </a:p>
        </p:txBody>
      </p:sp>
      <p:sp>
        <p:nvSpPr>
          <p:cNvPr id="12" name="Stat 2 label"/>
          <p:cNvSpPr txBox="1"/>
          <p:nvPr/>
        </p:nvSpPr>
        <p:spPr>
          <a:xfrm>
            <a:off x="4358629" y="4974323"/>
            <a:ext cx="3596631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60">
                <a:solidFill>
                  <a:schemeClr val="tx1"/>
                </a:solidFill>
              </a:rPr>
              <a:t>CLIENT SATISFACTION</a:t>
            </a:r>
          </a:p>
        </p:txBody>
      </p:sp>
      <p:sp>
        <p:nvSpPr>
          <p:cNvPr id="13" name="Stat 2 context"/>
          <p:cNvSpPr txBox="1"/>
          <p:nvPr/>
        </p:nvSpPr>
        <p:spPr>
          <a:xfrm>
            <a:off x="4358629" y="5340082"/>
            <a:ext cx="3596631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60000"/>
                    <a:lumOff val="40000"/>
                  </a:schemeClr>
                </a:solidFill>
              </a:rPr>
              <a:t>One line of context for the figure.</a:t>
            </a:r>
          </a:p>
        </p:txBody>
      </p:sp>
      <p:cxnSp>
        <p:nvCxnSpPr>
          <p:cNvPr id="14" name="Stat 3 rule"/>
          <p:cNvCxnSpPr/>
          <p:nvPr/>
        </p:nvCxnSpPr>
        <p:spPr>
          <a:xfrm>
            <a:off x="8211291" y="3291831"/>
            <a:ext cx="3596631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5" name="Stat 3 number"/>
          <p:cNvSpPr txBox="1"/>
          <p:nvPr/>
        </p:nvSpPr>
        <p:spPr>
          <a:xfrm>
            <a:off x="8211291" y="3462519"/>
            <a:ext cx="3596631" cy="146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spc="-100">
                <a:solidFill>
                  <a:schemeClr val="tx1"/>
                </a:solidFill>
                <a:latin typeface="+mj-lt"/>
              </a:rPr>
              <a:t>12</a:t>
            </a:r>
          </a:p>
        </p:txBody>
      </p:sp>
      <p:sp>
        <p:nvSpPr>
          <p:cNvPr id="16" name="Stat 3 label"/>
          <p:cNvSpPr txBox="1"/>
          <p:nvPr/>
        </p:nvSpPr>
        <p:spPr>
          <a:xfrm>
            <a:off x="8211291" y="4974323"/>
            <a:ext cx="3596631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60">
                <a:solidFill>
                  <a:schemeClr val="tx1"/>
                </a:solidFill>
              </a:rPr>
              <a:t>WEEKS, AVERAGE BUILD</a:t>
            </a:r>
          </a:p>
        </p:txBody>
      </p:sp>
      <p:sp>
        <p:nvSpPr>
          <p:cNvPr id="17" name="Stat 3 context"/>
          <p:cNvSpPr txBox="1"/>
          <p:nvPr/>
        </p:nvSpPr>
        <p:spPr>
          <a:xfrm>
            <a:off x="8211291" y="5340082"/>
            <a:ext cx="3596631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60000"/>
                    <a:lumOff val="40000"/>
                  </a:schemeClr>
                </a:solidFill>
              </a:rPr>
              <a:t>One line of context for the figure.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FEATURED PROJECT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4876787" cy="170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spc="-50">
                <a:solidFill>
                  <a:schemeClr val="tx1"/>
                </a:solidFill>
                <a:latin typeface="+mj-lt"/>
              </a:rPr>
              <a:t>Brick considerations in a heritage home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505966" y="2987032"/>
            <a:ext cx="4632948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Two sentences on what the project was and what made it interesting. Keep it concrete.</a:t>
            </a:r>
          </a:p>
        </p:txBody>
      </p:sp>
      <p:cxnSp>
        <p:nvCxnSpPr>
          <p:cNvPr id="7" name="Bullet rule 1"/>
          <p:cNvCxnSpPr/>
          <p:nvPr/>
        </p:nvCxnSpPr>
        <p:spPr>
          <a:xfrm>
            <a:off x="505966" y="4206229"/>
            <a:ext cx="463294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Bullet 1"/>
          <p:cNvSpPr txBox="1"/>
          <p:nvPr/>
        </p:nvSpPr>
        <p:spPr>
          <a:xfrm>
            <a:off x="505966" y="4340341"/>
            <a:ext cx="46329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Point one, short and specific</a:t>
            </a:r>
          </a:p>
        </p:txBody>
      </p:sp>
      <p:cxnSp>
        <p:nvCxnSpPr>
          <p:cNvPr id="9" name="Bullet rule 2"/>
          <p:cNvCxnSpPr/>
          <p:nvPr/>
        </p:nvCxnSpPr>
        <p:spPr>
          <a:xfrm>
            <a:off x="505966" y="4791444"/>
            <a:ext cx="463294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Bullet 2"/>
          <p:cNvSpPr txBox="1"/>
          <p:nvPr/>
        </p:nvSpPr>
        <p:spPr>
          <a:xfrm>
            <a:off x="505966" y="4925555"/>
            <a:ext cx="46329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Point two, short and specific</a:t>
            </a:r>
          </a:p>
        </p:txBody>
      </p:sp>
      <p:cxnSp>
        <p:nvCxnSpPr>
          <p:cNvPr id="11" name="Bullet rule 3"/>
          <p:cNvCxnSpPr/>
          <p:nvPr/>
        </p:nvCxnSpPr>
        <p:spPr>
          <a:xfrm>
            <a:off x="505966" y="5376658"/>
            <a:ext cx="463294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Bullet 3"/>
          <p:cNvSpPr txBox="1"/>
          <p:nvPr/>
        </p:nvSpPr>
        <p:spPr>
          <a:xfrm>
            <a:off x="505966" y="5510770"/>
            <a:ext cx="46329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Point three, short and specific</a:t>
            </a:r>
          </a:p>
        </p:txBody>
      </p:sp>
      <p:sp>
        <p:nvSpPr>
          <p:cNvPr id="13" name="Panel"/>
          <p:cNvSpPr/>
          <p:nvPr/>
        </p:nvSpPr>
        <p:spPr>
          <a:xfrm>
            <a:off x="6077696" y="1402076"/>
            <a:ext cx="5608305" cy="438910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 area (branded crop)"/>
          <p:cNvSpPr/>
          <p:nvPr/>
        </p:nvSpPr>
        <p:spPr>
          <a:xfrm>
            <a:off x="6077696" y="1402076"/>
            <a:ext cx="5608305" cy="438910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62000"/>
                </a:moveTo>
                <a:lnTo>
                  <a:pt x="22000" y="62000"/>
                </a:lnTo>
                <a:lnTo>
                  <a:pt x="27000" y="52000"/>
                </a:lnTo>
                <a:lnTo>
                  <a:pt x="32000" y="42000"/>
                </a:lnTo>
                <a:lnTo>
                  <a:pt x="100000" y="4200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 title"/>
          <p:cNvSpPr txBox="1"/>
          <p:nvPr/>
        </p:nvSpPr>
        <p:spPr>
          <a:xfrm>
            <a:off x="6339824" y="1658107"/>
            <a:ext cx="4389109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chemeClr val="tx1"/>
                </a:solidFill>
              </a:rPr>
              <a:t>BRICK CONSIDERATIONS</a:t>
            </a:r>
          </a:p>
          <a:p>
            <a:pPr algn="l">
              <a:lnSpc>
                <a:spcPct val="95000"/>
              </a:lnSpc>
            </a:pPr>
            <a:r>
              <a:rPr sz="1800" b="1">
                <a:solidFill>
                  <a:schemeClr val="tx1"/>
                </a:solidFill>
              </a:rPr>
              <a:t>IN A HERITAGE HOME</a:t>
            </a:r>
          </a:p>
        </p:txBody>
      </p:sp>
      <p:sp>
        <p:nvSpPr>
          <p:cNvPr id="16" name="Shift icon"/>
          <p:cNvSpPr/>
          <p:nvPr/>
        </p:nvSpPr>
        <p:spPr>
          <a:xfrm>
            <a:off x="6339824" y="3413751"/>
            <a:ext cx="633982" cy="528998"/>
          </a:xfrm>
          <a:custGeom>
            <a:avLst/>
            <a:gdLst/>
            <a:ahLst/>
            <a:cxnLst/>
            <a:rect l="0" t="0" r="r" b="b"/>
            <a:pathLst>
              <a:path w="31100" h="25950">
                <a:moveTo>
                  <a:pt x="23195" y="5625"/>
                </a:moveTo>
                <a:lnTo>
                  <a:pt x="18380" y="5613"/>
                </a:lnTo>
                <a:cubicBezTo>
                  <a:pt x="17807" y="5612"/>
                  <a:pt x="17285" y="5945"/>
                  <a:pt x="17045" y="6466"/>
                </a:cubicBezTo>
                <a:lnTo>
                  <a:pt x="15815" y="9133"/>
                </a:lnTo>
                <a:cubicBezTo>
                  <a:pt x="15453" y="9916"/>
                  <a:pt x="14668" y="10418"/>
                  <a:pt x="13805" y="10416"/>
                </a:cubicBezTo>
                <a:lnTo>
                  <a:pt x="7799" y="10400"/>
                </a:lnTo>
                <a:cubicBezTo>
                  <a:pt x="6310" y="10397"/>
                  <a:pt x="5108" y="9154"/>
                  <a:pt x="5168" y="7652"/>
                </a:cubicBezTo>
                <a:cubicBezTo>
                  <a:pt x="5226" y="6223"/>
                  <a:pt x="6448" y="5117"/>
                  <a:pt x="7878" y="5120"/>
                </a:cubicBezTo>
                <a:lnTo>
                  <a:pt x="17523" y="5145"/>
                </a:lnTo>
                <a:cubicBezTo>
                  <a:pt x="17780" y="5145"/>
                  <a:pt x="18015" y="4996"/>
                  <a:pt x="18122" y="4762"/>
                </a:cubicBezTo>
                <a:lnTo>
                  <a:pt x="20314" y="9"/>
                </a:lnTo>
                <a:lnTo>
                  <a:pt x="7924" y="7"/>
                </a:lnTo>
                <a:cubicBezTo>
                  <a:pt x="3655" y="-4"/>
                  <a:pt x="105" y="3396"/>
                  <a:pt x="53" y="7664"/>
                </a:cubicBezTo>
                <a:cubicBezTo>
                  <a:pt x="0" y="11975"/>
                  <a:pt x="3486" y="15504"/>
                  <a:pt x="7787" y="15514"/>
                </a:cubicBezTo>
                <a:lnTo>
                  <a:pt x="12364" y="15525"/>
                </a:lnTo>
                <a:cubicBezTo>
                  <a:pt x="12847" y="15527"/>
                  <a:pt x="13287" y="15246"/>
                  <a:pt x="13490" y="14807"/>
                </a:cubicBezTo>
                <a:lnTo>
                  <a:pt x="14781" y="12006"/>
                </a:lnTo>
                <a:cubicBezTo>
                  <a:pt x="15143" y="11222"/>
                  <a:pt x="15928" y="10721"/>
                  <a:pt x="16791" y="10723"/>
                </a:cubicBezTo>
                <a:lnTo>
                  <a:pt x="23236" y="10739"/>
                </a:lnTo>
                <a:cubicBezTo>
                  <a:pt x="24665" y="10743"/>
                  <a:pt x="25882" y="11855"/>
                  <a:pt x="25933" y="13284"/>
                </a:cubicBezTo>
                <a:cubicBezTo>
                  <a:pt x="25986" y="14786"/>
                  <a:pt x="24777" y="16023"/>
                  <a:pt x="23288" y="16020"/>
                </a:cubicBezTo>
                <a:lnTo>
                  <a:pt x="13392" y="15995"/>
                </a:lnTo>
                <a:cubicBezTo>
                  <a:pt x="12940" y="15994"/>
                  <a:pt x="12530" y="16256"/>
                  <a:pt x="12341" y="16666"/>
                </a:cubicBezTo>
                <a:lnTo>
                  <a:pt x="10940" y="19703"/>
                </a:lnTo>
                <a:cubicBezTo>
                  <a:pt x="10621" y="20395"/>
                  <a:pt x="9927" y="20838"/>
                  <a:pt x="9164" y="20836"/>
                </a:cubicBezTo>
                <a:lnTo>
                  <a:pt x="3836" y="20823"/>
                </a:lnTo>
                <a:cubicBezTo>
                  <a:pt x="3526" y="20822"/>
                  <a:pt x="3245" y="21002"/>
                  <a:pt x="3115" y="21283"/>
                </a:cubicBezTo>
                <a:lnTo>
                  <a:pt x="968" y="25929"/>
                </a:lnTo>
                <a:lnTo>
                  <a:pt x="6622" y="25943"/>
                </a:lnTo>
                <a:cubicBezTo>
                  <a:pt x="7672" y="25946"/>
                  <a:pt x="8628" y="25336"/>
                  <a:pt x="9069" y="24382"/>
                </a:cubicBezTo>
                <a:lnTo>
                  <a:pt x="10057" y="22238"/>
                </a:lnTo>
                <a:cubicBezTo>
                  <a:pt x="10376" y="21545"/>
                  <a:pt x="11069" y="21127"/>
                  <a:pt x="11831" y="21129"/>
                </a:cubicBezTo>
                <a:lnTo>
                  <a:pt x="23275" y="21129"/>
                </a:lnTo>
                <a:cubicBezTo>
                  <a:pt x="27590" y="21139"/>
                  <a:pt x="31100" y="17611"/>
                  <a:pt x="31047" y="13282"/>
                </a:cubicBezTo>
                <a:cubicBezTo>
                  <a:pt x="30995" y="9026"/>
                  <a:pt x="27452" y="5636"/>
                  <a:pt x="23195" y="5625"/>
                </a:cubicBezTo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hoto label"/>
          <p:cNvSpPr txBox="1"/>
          <p:nvPr/>
        </p:nvSpPr>
        <p:spPr>
          <a:xfrm>
            <a:off x="6339824" y="5425426"/>
            <a:ext cx="243839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DROP PROJECT PHOTO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PROCESS AND PROJECTS</a:t>
            </a:r>
          </a:p>
        </p:txBody>
      </p:sp>
      <p:sp>
        <p:nvSpPr>
          <p:cNvPr id="5" name="Photo tile 1"/>
          <p:cNvSpPr/>
          <p:nvPr/>
        </p:nvSpPr>
        <p:spPr>
          <a:xfrm>
            <a:off x="505966" y="1414268"/>
            <a:ext cx="2950456" cy="4511028"/>
          </a:xfrm>
          <a:prstGeom prst="rect">
            <a:avLst/>
          </a:prstGeom>
          <a:solidFill>
            <a:schemeClr val="bg1">
              <a:lumMod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le 1 label"/>
          <p:cNvSpPr txBox="1"/>
          <p:nvPr/>
        </p:nvSpPr>
        <p:spPr>
          <a:xfrm>
            <a:off x="627886" y="5608305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</a:p>
        </p:txBody>
      </p:sp>
      <p:sp>
        <p:nvSpPr>
          <p:cNvPr id="7" name="Photo tile 2"/>
          <p:cNvSpPr/>
          <p:nvPr/>
        </p:nvSpPr>
        <p:spPr>
          <a:xfrm>
            <a:off x="3639302" y="1414268"/>
            <a:ext cx="2365242" cy="1381350"/>
          </a:xfrm>
          <a:prstGeom prst="rect">
            <a:avLst/>
          </a:prstGeom>
          <a:solidFill>
            <a:schemeClr val="bg1">
              <a:lumMod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le 2 label"/>
          <p:cNvSpPr txBox="1"/>
          <p:nvPr/>
        </p:nvSpPr>
        <p:spPr>
          <a:xfrm>
            <a:off x="3761222" y="2478627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</a:p>
        </p:txBody>
      </p:sp>
      <p:sp>
        <p:nvSpPr>
          <p:cNvPr id="9" name="Photo tile 3"/>
          <p:cNvSpPr/>
          <p:nvPr/>
        </p:nvSpPr>
        <p:spPr>
          <a:xfrm>
            <a:off x="3639302" y="2978498"/>
            <a:ext cx="2365242" cy="2946799"/>
          </a:xfrm>
          <a:prstGeom prst="rect">
            <a:avLst/>
          </a:prstGeom>
          <a:solidFill>
            <a:schemeClr val="bg1">
              <a:lumMod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le 3 label"/>
          <p:cNvSpPr txBox="1"/>
          <p:nvPr/>
        </p:nvSpPr>
        <p:spPr>
          <a:xfrm>
            <a:off x="3761222" y="5608305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</a:p>
        </p:txBody>
      </p:sp>
      <p:sp>
        <p:nvSpPr>
          <p:cNvPr id="11" name="Photo tile 4"/>
          <p:cNvSpPr/>
          <p:nvPr/>
        </p:nvSpPr>
        <p:spPr>
          <a:xfrm>
            <a:off x="6187424" y="1414268"/>
            <a:ext cx="1767835" cy="2824879"/>
          </a:xfrm>
          <a:prstGeom prst="rect">
            <a:avLst/>
          </a:prstGeom>
          <a:solidFill>
            <a:schemeClr val="bg1">
              <a:lumMod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le 4 label"/>
          <p:cNvSpPr txBox="1"/>
          <p:nvPr/>
        </p:nvSpPr>
        <p:spPr>
          <a:xfrm>
            <a:off x="6309344" y="392215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>
                    <a:lumMod val="60000"/>
                    <a:lumOff val="40000"/>
                  </a:schemeClr>
                </a:solidFill>
              </a:rPr>
              <a:t>PROJECT</a:t>
            </a:r>
          </a:p>
        </p:txBody>
      </p:sp>
      <p:sp>
        <p:nvSpPr>
          <p:cNvPr id="13" name="Photo tile 5"/>
          <p:cNvSpPr/>
          <p:nvPr/>
        </p:nvSpPr>
        <p:spPr>
          <a:xfrm>
            <a:off x="8138139" y="1414268"/>
            <a:ext cx="3547863" cy="2824879"/>
          </a:xfrm>
          <a:prstGeom prst="rect">
            <a:avLst/>
          </a:prstGeom>
          <a:solidFill>
            <a:schemeClr val="bg1">
              <a:lumMod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le 5 label"/>
          <p:cNvSpPr txBox="1"/>
          <p:nvPr/>
        </p:nvSpPr>
        <p:spPr>
          <a:xfrm>
            <a:off x="8260059" y="392215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>
                    <a:lumMod val="60000"/>
                    <a:lumOff val="40000"/>
                  </a:schemeClr>
                </a:solidFill>
              </a:rPr>
              <a:t>PROJECT</a:t>
            </a:r>
          </a:p>
        </p:txBody>
      </p:sp>
      <p:sp>
        <p:nvSpPr>
          <p:cNvPr id="15" name="Photo tile 6"/>
          <p:cNvSpPr/>
          <p:nvPr/>
        </p:nvSpPr>
        <p:spPr>
          <a:xfrm>
            <a:off x="6187424" y="4401300"/>
            <a:ext cx="5498578" cy="1523996"/>
          </a:xfrm>
          <a:prstGeom prst="rect">
            <a:avLst/>
          </a:prstGeom>
          <a:solidFill>
            <a:schemeClr val="bg1">
              <a:lumMod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le 6 label"/>
          <p:cNvSpPr txBox="1"/>
          <p:nvPr/>
        </p:nvSpPr>
        <p:spPr>
          <a:xfrm>
            <a:off x="6309344" y="5608305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>
                    <a:lumMod val="60000"/>
                    <a:lumOff val="40000"/>
                  </a:schemeClr>
                </a:solidFill>
              </a:rPr>
              <a:t>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IN THEIR WORDS</a:t>
            </a:r>
          </a:p>
        </p:txBody>
      </p:sp>
      <p:sp>
        <p:nvSpPr>
          <p:cNvPr id="5" name="Quote"/>
          <p:cNvSpPr txBox="1"/>
          <p:nvPr/>
        </p:nvSpPr>
        <p:spPr>
          <a:xfrm>
            <a:off x="505966" y="1402076"/>
            <a:ext cx="9997415" cy="365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“They treated our home like it was theirs, and told us the truth at every step.”</a:t>
            </a:r>
          </a:p>
        </p:txBody>
      </p:sp>
      <p:sp>
        <p:nvSpPr>
          <p:cNvPr id="6" name="Attribution"/>
          <p:cNvSpPr txBox="1"/>
          <p:nvPr/>
        </p:nvSpPr>
        <p:spPr>
          <a:xfrm>
            <a:off x="505966" y="5059667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60">
                <a:solidFill>
                  <a:schemeClr val="tx1"/>
                </a:solidFill>
              </a:rPr>
              <a:t>CLIENT NAME</a:t>
            </a:r>
          </a:p>
        </p:txBody>
      </p:sp>
      <p:sp>
        <p:nvSpPr>
          <p:cNvPr id="7" name="Attribution detail"/>
          <p:cNvSpPr txBox="1"/>
          <p:nvPr/>
        </p:nvSpPr>
        <p:spPr>
          <a:xfrm>
            <a:off x="505966" y="5364466"/>
            <a:ext cx="487678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Project, neighbourhood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4.1 TONE DIALS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4145269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How do we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speak?</a:t>
            </a:r>
          </a:p>
        </p:txBody>
      </p:sp>
      <p:sp>
        <p:nvSpPr>
          <p:cNvPr id="6" name="Dial 1 left"/>
          <p:cNvSpPr txBox="1"/>
          <p:nvPr/>
        </p:nvSpPr>
        <p:spPr>
          <a:xfrm>
            <a:off x="6217904" y="1414268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CASUAL</a:t>
            </a:r>
          </a:p>
        </p:txBody>
      </p:sp>
      <p:sp>
        <p:nvSpPr>
          <p:cNvPr id="7" name="Dial 1 right"/>
          <p:cNvSpPr txBox="1"/>
          <p:nvPr/>
        </p:nvSpPr>
        <p:spPr>
          <a:xfrm>
            <a:off x="9003769" y="1414268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spc="160">
                <a:solidFill>
                  <a:schemeClr val="tx1"/>
                </a:solidFill>
              </a:rPr>
              <a:t>FORMAL</a:t>
            </a:r>
          </a:p>
        </p:txBody>
      </p:sp>
      <p:cxnSp>
        <p:nvCxnSpPr>
          <p:cNvPr id="8" name="Dial 1 line"/>
          <p:cNvCxnSpPr/>
          <p:nvPr/>
        </p:nvCxnSpPr>
        <p:spPr>
          <a:xfrm>
            <a:off x="6217904" y="1804411"/>
            <a:ext cx="546809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Dial 1 dot"/>
          <p:cNvSpPr/>
          <p:nvPr/>
        </p:nvSpPr>
        <p:spPr>
          <a:xfrm>
            <a:off x="9307105" y="1722115"/>
            <a:ext cx="164591" cy="16459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l 2 left"/>
          <p:cNvSpPr txBox="1"/>
          <p:nvPr/>
        </p:nvSpPr>
        <p:spPr>
          <a:xfrm>
            <a:off x="6217904" y="2182362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FUN</a:t>
            </a:r>
          </a:p>
        </p:txBody>
      </p:sp>
      <p:sp>
        <p:nvSpPr>
          <p:cNvPr id="11" name="Dial 2 right"/>
          <p:cNvSpPr txBox="1"/>
          <p:nvPr/>
        </p:nvSpPr>
        <p:spPr>
          <a:xfrm>
            <a:off x="9003769" y="2182362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spc="160">
                <a:solidFill>
                  <a:schemeClr val="tx1"/>
                </a:solidFill>
              </a:rPr>
              <a:t>SERIOUS</a:t>
            </a:r>
          </a:p>
        </p:txBody>
      </p:sp>
      <p:cxnSp>
        <p:nvCxnSpPr>
          <p:cNvPr id="12" name="Dial 2 line"/>
          <p:cNvCxnSpPr/>
          <p:nvPr/>
        </p:nvCxnSpPr>
        <p:spPr>
          <a:xfrm>
            <a:off x="6217904" y="2572505"/>
            <a:ext cx="546809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Dial 2 dot"/>
          <p:cNvSpPr/>
          <p:nvPr/>
        </p:nvSpPr>
        <p:spPr>
          <a:xfrm>
            <a:off x="9416467" y="2490209"/>
            <a:ext cx="164591" cy="164591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l 3 left"/>
          <p:cNvSpPr txBox="1"/>
          <p:nvPr/>
        </p:nvSpPr>
        <p:spPr>
          <a:xfrm>
            <a:off x="6217904" y="2950456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REALISTIC</a:t>
            </a:r>
          </a:p>
        </p:txBody>
      </p:sp>
      <p:sp>
        <p:nvSpPr>
          <p:cNvPr id="15" name="Dial 3 right"/>
          <p:cNvSpPr txBox="1"/>
          <p:nvPr/>
        </p:nvSpPr>
        <p:spPr>
          <a:xfrm>
            <a:off x="9003769" y="2950456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spc="160">
                <a:solidFill>
                  <a:schemeClr val="tx1"/>
                </a:solidFill>
              </a:rPr>
              <a:t>IDEALISTIC</a:t>
            </a:r>
          </a:p>
        </p:txBody>
      </p:sp>
      <p:cxnSp>
        <p:nvCxnSpPr>
          <p:cNvPr id="16" name="Dial 3 line"/>
          <p:cNvCxnSpPr/>
          <p:nvPr/>
        </p:nvCxnSpPr>
        <p:spPr>
          <a:xfrm>
            <a:off x="6217904" y="3340599"/>
            <a:ext cx="546809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7" name="Dial 3 dot"/>
          <p:cNvSpPr/>
          <p:nvPr/>
        </p:nvSpPr>
        <p:spPr>
          <a:xfrm>
            <a:off x="10072639" y="3258303"/>
            <a:ext cx="164591" cy="16459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l 4 left"/>
          <p:cNvSpPr txBox="1"/>
          <p:nvPr/>
        </p:nvSpPr>
        <p:spPr>
          <a:xfrm>
            <a:off x="6217904" y="3718550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APPROACHABLE</a:t>
            </a:r>
          </a:p>
        </p:txBody>
      </p:sp>
      <p:sp>
        <p:nvSpPr>
          <p:cNvPr id="19" name="Dial 4 right"/>
          <p:cNvSpPr txBox="1"/>
          <p:nvPr/>
        </p:nvSpPr>
        <p:spPr>
          <a:xfrm>
            <a:off x="9003769" y="3718550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spc="160">
                <a:solidFill>
                  <a:schemeClr val="tx1"/>
                </a:solidFill>
              </a:rPr>
              <a:t>EXCLUSIVE</a:t>
            </a:r>
          </a:p>
        </p:txBody>
      </p:sp>
      <p:cxnSp>
        <p:nvCxnSpPr>
          <p:cNvPr id="20" name="Dial 4 line"/>
          <p:cNvCxnSpPr/>
          <p:nvPr/>
        </p:nvCxnSpPr>
        <p:spPr>
          <a:xfrm>
            <a:off x="6217904" y="4108693"/>
            <a:ext cx="546809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1" name="Dial 4 dot"/>
          <p:cNvSpPr/>
          <p:nvPr/>
        </p:nvSpPr>
        <p:spPr>
          <a:xfrm>
            <a:off x="9361786" y="4026397"/>
            <a:ext cx="164591" cy="16459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l 5 left"/>
          <p:cNvSpPr txBox="1"/>
          <p:nvPr/>
        </p:nvSpPr>
        <p:spPr>
          <a:xfrm>
            <a:off x="6217904" y="4486644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TRADITIONAL</a:t>
            </a:r>
          </a:p>
        </p:txBody>
      </p:sp>
      <p:sp>
        <p:nvSpPr>
          <p:cNvPr id="23" name="Dial 5 right"/>
          <p:cNvSpPr txBox="1"/>
          <p:nvPr/>
        </p:nvSpPr>
        <p:spPr>
          <a:xfrm>
            <a:off x="9003769" y="4486644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spc="160">
                <a:solidFill>
                  <a:schemeClr val="tx1"/>
                </a:solidFill>
              </a:rPr>
              <a:t>NONTRADITIONAL</a:t>
            </a:r>
          </a:p>
        </p:txBody>
      </p:sp>
      <p:cxnSp>
        <p:nvCxnSpPr>
          <p:cNvPr id="24" name="Dial 5 line"/>
          <p:cNvCxnSpPr/>
          <p:nvPr/>
        </p:nvCxnSpPr>
        <p:spPr>
          <a:xfrm>
            <a:off x="6217904" y="4876787"/>
            <a:ext cx="546809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5" name="Dial 5 dot"/>
          <p:cNvSpPr/>
          <p:nvPr/>
        </p:nvSpPr>
        <p:spPr>
          <a:xfrm>
            <a:off x="9908596" y="4794492"/>
            <a:ext cx="164591" cy="16459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l 6 left"/>
          <p:cNvSpPr txBox="1"/>
          <p:nvPr/>
        </p:nvSpPr>
        <p:spPr>
          <a:xfrm>
            <a:off x="6217904" y="5254738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FRIENDLY</a:t>
            </a:r>
          </a:p>
        </p:txBody>
      </p:sp>
      <p:sp>
        <p:nvSpPr>
          <p:cNvPr id="27" name="Dial 6 right"/>
          <p:cNvSpPr txBox="1"/>
          <p:nvPr/>
        </p:nvSpPr>
        <p:spPr>
          <a:xfrm>
            <a:off x="9003769" y="5254738"/>
            <a:ext cx="268223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spc="160">
                <a:solidFill>
                  <a:schemeClr val="tx1"/>
                </a:solidFill>
              </a:rPr>
              <a:t>PROFESSIONAL</a:t>
            </a:r>
          </a:p>
        </p:txBody>
      </p:sp>
      <p:cxnSp>
        <p:nvCxnSpPr>
          <p:cNvPr id="28" name="Dial 6 line"/>
          <p:cNvCxnSpPr/>
          <p:nvPr/>
        </p:nvCxnSpPr>
        <p:spPr>
          <a:xfrm>
            <a:off x="6217904" y="5644881"/>
            <a:ext cx="546809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9" name="Dial 6 dot"/>
          <p:cNvSpPr/>
          <p:nvPr/>
        </p:nvSpPr>
        <p:spPr>
          <a:xfrm>
            <a:off x="7940081" y="5562586"/>
            <a:ext cx="164591" cy="164591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3.1 COMPANY PILLARS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4876787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Shift Projects</a:t>
            </a:r>
          </a:p>
        </p:txBody>
      </p:sp>
      <p:sp>
        <p:nvSpPr>
          <p:cNvPr id="6" name="Focus label"/>
          <p:cNvSpPr txBox="1"/>
          <p:nvPr/>
        </p:nvSpPr>
        <p:spPr>
          <a:xfrm>
            <a:off x="6217904" y="1414268"/>
            <a:ext cx="243839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FOCUS</a:t>
            </a:r>
          </a:p>
        </p:txBody>
      </p:sp>
      <p:cxnSp>
        <p:nvCxnSpPr>
          <p:cNvPr id="7" name="Focus rule"/>
          <p:cNvCxnSpPr/>
          <p:nvPr/>
        </p:nvCxnSpPr>
        <p:spPr>
          <a:xfrm>
            <a:off x="6217904" y="1755643"/>
            <a:ext cx="5468098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8" name="Focus title"/>
          <p:cNvSpPr txBox="1"/>
          <p:nvPr/>
        </p:nvSpPr>
        <p:spPr>
          <a:xfrm>
            <a:off x="6217904" y="1950715"/>
            <a:ext cx="546809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RESIDENTIAL PROJECTS</a:t>
            </a:r>
          </a:p>
        </p:txBody>
      </p:sp>
      <p:sp>
        <p:nvSpPr>
          <p:cNvPr id="9" name="Focus text"/>
          <p:cNvSpPr txBox="1"/>
          <p:nvPr/>
        </p:nvSpPr>
        <p:spPr>
          <a:xfrm>
            <a:off x="6217904" y="2365242"/>
            <a:ext cx="5468098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Custom home building and renovations in a considered, stress-free environment</a:t>
            </a:r>
          </a:p>
        </p:txBody>
      </p:sp>
      <p:sp>
        <p:nvSpPr>
          <p:cNvPr id="10" name="Specialty label"/>
          <p:cNvSpPr txBox="1"/>
          <p:nvPr/>
        </p:nvSpPr>
        <p:spPr>
          <a:xfrm>
            <a:off x="6217904" y="3364983"/>
            <a:ext cx="243839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SPECIALTY</a:t>
            </a:r>
          </a:p>
        </p:txBody>
      </p:sp>
      <p:cxnSp>
        <p:nvCxnSpPr>
          <p:cNvPr id="11" name="Specialty rule"/>
          <p:cNvCxnSpPr/>
          <p:nvPr/>
        </p:nvCxnSpPr>
        <p:spPr>
          <a:xfrm>
            <a:off x="6217904" y="3706358"/>
            <a:ext cx="5468098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12" name="Specialty 1 title"/>
          <p:cNvSpPr txBox="1"/>
          <p:nvPr/>
        </p:nvSpPr>
        <p:spPr>
          <a:xfrm>
            <a:off x="6217904" y="3901430"/>
            <a:ext cx="1828795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>
                <a:solidFill>
                  <a:schemeClr val="tx1"/>
                </a:solidFill>
              </a:rPr>
              <a:t>NEW BUILDS</a:t>
            </a:r>
          </a:p>
        </p:txBody>
      </p:sp>
      <p:sp>
        <p:nvSpPr>
          <p:cNvPr id="13" name="Specialty 1 text"/>
          <p:cNvSpPr txBox="1"/>
          <p:nvPr/>
        </p:nvSpPr>
        <p:spPr>
          <a:xfrm>
            <a:off x="6217904" y="4815827"/>
            <a:ext cx="1731259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From foundation to finish: thoughtfully designed, modern living solutions.</a:t>
            </a:r>
          </a:p>
        </p:txBody>
      </p:sp>
      <p:sp>
        <p:nvSpPr>
          <p:cNvPr id="14" name="Specialty 2 title"/>
          <p:cNvSpPr txBox="1"/>
          <p:nvPr/>
        </p:nvSpPr>
        <p:spPr>
          <a:xfrm>
            <a:off x="8119851" y="3901430"/>
            <a:ext cx="1828795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>
                <a:solidFill>
                  <a:schemeClr val="tx1"/>
                </a:solidFill>
              </a:rPr>
              <a:t>HOME RENOVATIONS</a:t>
            </a:r>
          </a:p>
        </p:txBody>
      </p:sp>
      <p:sp>
        <p:nvSpPr>
          <p:cNvPr id="15" name="Specialty 2 text"/>
          <p:cNvSpPr txBox="1"/>
          <p:nvPr/>
        </p:nvSpPr>
        <p:spPr>
          <a:xfrm>
            <a:off x="8119851" y="4815827"/>
            <a:ext cx="1731259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Enhancing the comfort, health, and functionality of existing homes.</a:t>
            </a:r>
          </a:p>
        </p:txBody>
      </p:sp>
      <p:sp>
        <p:nvSpPr>
          <p:cNvPr id="16" name="Specialty 3 title"/>
          <p:cNvSpPr txBox="1"/>
          <p:nvPr/>
        </p:nvSpPr>
        <p:spPr>
          <a:xfrm>
            <a:off x="10021798" y="3901430"/>
            <a:ext cx="1828795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>
                <a:solidFill>
                  <a:schemeClr val="tx1"/>
                </a:solidFill>
              </a:rPr>
              <a:t>ACCESSIBILITY RENOVATIONS</a:t>
            </a:r>
          </a:p>
        </p:txBody>
      </p:sp>
      <p:sp>
        <p:nvSpPr>
          <p:cNvPr id="17" name="Specialty 3 text"/>
          <p:cNvSpPr txBox="1"/>
          <p:nvPr/>
        </p:nvSpPr>
        <p:spPr>
          <a:xfrm>
            <a:off x="10021798" y="4815827"/>
            <a:ext cx="1731259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Home adjustments that support aging and mobility.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DO'S AND DON'TS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3413751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Say it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this way</a:t>
            </a:r>
          </a:p>
        </p:txBody>
      </p:sp>
      <p:sp>
        <p:nvSpPr>
          <p:cNvPr id="6" name="Approved label"/>
          <p:cNvSpPr txBox="1"/>
          <p:nvPr/>
        </p:nvSpPr>
        <p:spPr>
          <a:xfrm>
            <a:off x="4328149" y="1414268"/>
            <a:ext cx="3657590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APPROVED</a:t>
            </a:r>
          </a:p>
        </p:txBody>
      </p:sp>
      <p:cxnSp>
        <p:nvCxnSpPr>
          <p:cNvPr id="7" name="Approved rule"/>
          <p:cNvCxnSpPr/>
          <p:nvPr/>
        </p:nvCxnSpPr>
        <p:spPr>
          <a:xfrm>
            <a:off x="4328149" y="1755643"/>
            <a:ext cx="4023350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8" name="Unapproved label"/>
          <p:cNvSpPr txBox="1"/>
          <p:nvPr/>
        </p:nvSpPr>
        <p:spPr>
          <a:xfrm>
            <a:off x="8778218" y="1414268"/>
            <a:ext cx="2926072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UNAPPROVED</a:t>
            </a:r>
          </a:p>
        </p:txBody>
      </p:sp>
      <p:cxnSp>
        <p:nvCxnSpPr>
          <p:cNvPr id="9" name="Unapproved rule"/>
          <p:cNvCxnSpPr/>
          <p:nvPr/>
        </p:nvCxnSpPr>
        <p:spPr>
          <a:xfrm>
            <a:off x="8778218" y="1755643"/>
            <a:ext cx="2901688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10" name="Approved 1"/>
          <p:cNvSpPr/>
          <p:nvPr/>
        </p:nvSpPr>
        <p:spPr>
          <a:xfrm>
            <a:off x="4328149" y="1975099"/>
            <a:ext cx="1914139" cy="1341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pproved 1 text"/>
          <p:cNvSpPr txBox="1"/>
          <p:nvPr/>
        </p:nvSpPr>
        <p:spPr>
          <a:xfrm>
            <a:off x="4474452" y="2109210"/>
            <a:ext cx="1670299" cy="10972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Built for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today</a:t>
            </a:r>
          </a:p>
        </p:txBody>
      </p:sp>
      <p:sp>
        <p:nvSpPr>
          <p:cNvPr id="12" name="Approved 1 caption"/>
          <p:cNvSpPr txBox="1"/>
          <p:nvPr/>
        </p:nvSpPr>
        <p:spPr>
          <a:xfrm>
            <a:off x="4328149" y="3389367"/>
            <a:ext cx="191413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Black on cream.</a:t>
            </a:r>
          </a:p>
        </p:txBody>
      </p:sp>
      <p:sp>
        <p:nvSpPr>
          <p:cNvPr id="13" name="Approved 2"/>
          <p:cNvSpPr/>
          <p:nvPr/>
        </p:nvSpPr>
        <p:spPr>
          <a:xfrm>
            <a:off x="6437359" y="1975099"/>
            <a:ext cx="1914139" cy="134111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roved 2 text"/>
          <p:cNvSpPr txBox="1"/>
          <p:nvPr/>
        </p:nvSpPr>
        <p:spPr>
          <a:xfrm>
            <a:off x="6583663" y="2109210"/>
            <a:ext cx="1670299" cy="10972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chemeClr val="bg1"/>
                </a:solidFill>
                <a:latin typeface="+mj-lt"/>
              </a:rPr>
              <a:t>Built for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chemeClr val="bg1"/>
                </a:solidFill>
                <a:latin typeface="+mj-lt"/>
              </a:rPr>
              <a:t>today</a:t>
            </a:r>
          </a:p>
        </p:txBody>
      </p:sp>
      <p:sp>
        <p:nvSpPr>
          <p:cNvPr id="15" name="Approved 2 caption"/>
          <p:cNvSpPr txBox="1"/>
          <p:nvPr/>
        </p:nvSpPr>
        <p:spPr>
          <a:xfrm>
            <a:off x="6437359" y="3389367"/>
            <a:ext cx="191413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Reversed.</a:t>
            </a:r>
          </a:p>
        </p:txBody>
      </p:sp>
      <p:sp>
        <p:nvSpPr>
          <p:cNvPr id="16" name="Approved 3"/>
          <p:cNvSpPr/>
          <p:nvPr/>
        </p:nvSpPr>
        <p:spPr>
          <a:xfrm>
            <a:off x="4328149" y="3852662"/>
            <a:ext cx="1914139" cy="13411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pproved 3 text"/>
          <p:cNvSpPr txBox="1"/>
          <p:nvPr/>
        </p:nvSpPr>
        <p:spPr>
          <a:xfrm>
            <a:off x="4474452" y="3986774"/>
            <a:ext cx="1670299" cy="10972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Built for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today</a:t>
            </a:r>
          </a:p>
        </p:txBody>
      </p:sp>
      <p:sp>
        <p:nvSpPr>
          <p:cNvPr id="18" name="Approved 3 caption"/>
          <p:cNvSpPr txBox="1"/>
          <p:nvPr/>
        </p:nvSpPr>
        <p:spPr>
          <a:xfrm>
            <a:off x="4328149" y="5266930"/>
            <a:ext cx="191413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Black on a brand colour.</a:t>
            </a:r>
          </a:p>
        </p:txBody>
      </p:sp>
      <p:sp>
        <p:nvSpPr>
          <p:cNvPr id="19" name="Approved 4"/>
          <p:cNvSpPr/>
          <p:nvPr/>
        </p:nvSpPr>
        <p:spPr>
          <a:xfrm>
            <a:off x="6437359" y="3852662"/>
            <a:ext cx="1914139" cy="134111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pproved 4 text"/>
          <p:cNvSpPr txBox="1"/>
          <p:nvPr/>
        </p:nvSpPr>
        <p:spPr>
          <a:xfrm>
            <a:off x="6583663" y="3986774"/>
            <a:ext cx="1670299" cy="10972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Built for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today</a:t>
            </a:r>
          </a:p>
        </p:txBody>
      </p:sp>
      <p:sp>
        <p:nvSpPr>
          <p:cNvPr id="21" name="Approved 4 caption"/>
          <p:cNvSpPr txBox="1"/>
          <p:nvPr/>
        </p:nvSpPr>
        <p:spPr>
          <a:xfrm>
            <a:off x="6437359" y="5266930"/>
            <a:ext cx="191413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Black on a brand colour.</a:t>
            </a:r>
          </a:p>
        </p:txBody>
      </p:sp>
      <p:sp>
        <p:nvSpPr>
          <p:cNvPr id="22" name="Unapproved 1"/>
          <p:cNvSpPr/>
          <p:nvPr/>
        </p:nvSpPr>
        <p:spPr>
          <a:xfrm>
            <a:off x="8778218" y="1975099"/>
            <a:ext cx="2901688" cy="1341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napproved 1 text"/>
          <p:cNvSpPr txBox="1"/>
          <p:nvPr/>
        </p:nvSpPr>
        <p:spPr>
          <a:xfrm>
            <a:off x="8924521" y="2109210"/>
            <a:ext cx="2657849" cy="10972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Built for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today</a:t>
            </a:r>
          </a:p>
        </p:txBody>
      </p:sp>
      <p:cxnSp>
        <p:nvCxnSpPr>
          <p:cNvPr id="24" name="Unapproved 1 cross 1"/>
          <p:cNvCxnSpPr/>
          <p:nvPr/>
        </p:nvCxnSpPr>
        <p:spPr>
          <a:xfrm>
            <a:off x="8778218" y="1975099"/>
            <a:ext cx="2901688" cy="1341116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cxnSp>
        <p:nvCxnSpPr>
          <p:cNvPr id="25" name="Unapproved 1 cross 2"/>
          <p:cNvCxnSpPr/>
          <p:nvPr/>
        </p:nvCxnSpPr>
        <p:spPr>
          <a:xfrm flipV="1">
            <a:off x="8778218" y="1975099"/>
            <a:ext cx="2901688" cy="1341116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26" name="Unapproved 1 caption"/>
          <p:cNvSpPr txBox="1"/>
          <p:nvPr/>
        </p:nvSpPr>
        <p:spPr>
          <a:xfrm>
            <a:off x="8778218" y="3389367"/>
            <a:ext cx="290168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Don't use white as a background; use cream.</a:t>
            </a:r>
          </a:p>
        </p:txBody>
      </p:sp>
      <p:sp>
        <p:nvSpPr>
          <p:cNvPr id="27" name="Unapproved 2"/>
          <p:cNvSpPr/>
          <p:nvPr/>
        </p:nvSpPr>
        <p:spPr>
          <a:xfrm>
            <a:off x="8778218" y="3852662"/>
            <a:ext cx="2901688" cy="134111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napproved 2 text"/>
          <p:cNvSpPr txBox="1"/>
          <p:nvPr/>
        </p:nvSpPr>
        <p:spPr>
          <a:xfrm>
            <a:off x="8924521" y="3986774"/>
            <a:ext cx="2657849" cy="10972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Built for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chemeClr val="tx1"/>
                </a:solidFill>
                <a:latin typeface="+mj-lt"/>
              </a:rPr>
              <a:t>today</a:t>
            </a:r>
          </a:p>
        </p:txBody>
      </p:sp>
      <p:cxnSp>
        <p:nvCxnSpPr>
          <p:cNvPr id="29" name="Unapproved 2 cross 1"/>
          <p:cNvCxnSpPr/>
          <p:nvPr/>
        </p:nvCxnSpPr>
        <p:spPr>
          <a:xfrm>
            <a:off x="8778218" y="3852662"/>
            <a:ext cx="2901688" cy="1341117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cxnSp>
        <p:nvCxnSpPr>
          <p:cNvPr id="30" name="Unapproved 2 cross 2"/>
          <p:cNvCxnSpPr/>
          <p:nvPr/>
        </p:nvCxnSpPr>
        <p:spPr>
          <a:xfrm flipV="1">
            <a:off x="8778218" y="3852662"/>
            <a:ext cx="2901688" cy="1341117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31" name="Unapproved 2 caption"/>
          <p:cNvSpPr txBox="1"/>
          <p:nvPr/>
        </p:nvSpPr>
        <p:spPr>
          <a:xfrm>
            <a:off x="8778218" y="5266930"/>
            <a:ext cx="290168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Don't mix secondary colours.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OPTIONS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4389109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Four ways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to start</a:t>
            </a:r>
          </a:p>
        </p:txBody>
      </p:sp>
      <p:sp>
        <p:nvSpPr>
          <p:cNvPr id="6" name="Card 1"/>
          <p:cNvSpPr/>
          <p:nvPr/>
        </p:nvSpPr>
        <p:spPr>
          <a:xfrm>
            <a:off x="505966" y="2926072"/>
            <a:ext cx="2657849" cy="295045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1 title"/>
          <p:cNvSpPr txBox="1"/>
          <p:nvPr/>
        </p:nvSpPr>
        <p:spPr>
          <a:xfrm>
            <a:off x="701038" y="3121144"/>
            <a:ext cx="2267706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</a:rPr>
              <a:t>OPTION ONE</a:t>
            </a:r>
          </a:p>
        </p:txBody>
      </p:sp>
      <p:sp>
        <p:nvSpPr>
          <p:cNvPr id="8" name="Card 1 text"/>
          <p:cNvSpPr txBox="1"/>
          <p:nvPr/>
        </p:nvSpPr>
        <p:spPr>
          <a:xfrm>
            <a:off x="701038" y="3584439"/>
            <a:ext cx="2267706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Short description in a sentence or two.</a:t>
            </a:r>
          </a:p>
        </p:txBody>
      </p:sp>
      <p:sp>
        <p:nvSpPr>
          <p:cNvPr id="9" name="Card 1 detail"/>
          <p:cNvSpPr txBox="1"/>
          <p:nvPr/>
        </p:nvSpPr>
        <p:spPr>
          <a:xfrm>
            <a:off x="701038" y="5388850"/>
            <a:ext cx="2267706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bg1"/>
                </a:solidFill>
              </a:rPr>
              <a:t>DETAIL</a:t>
            </a:r>
          </a:p>
        </p:txBody>
      </p:sp>
      <p:sp>
        <p:nvSpPr>
          <p:cNvPr id="10" name="Card 2"/>
          <p:cNvSpPr/>
          <p:nvPr/>
        </p:nvSpPr>
        <p:spPr>
          <a:xfrm>
            <a:off x="3346695" y="2926072"/>
            <a:ext cx="2657849" cy="2950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2 title"/>
          <p:cNvSpPr txBox="1"/>
          <p:nvPr/>
        </p:nvSpPr>
        <p:spPr>
          <a:xfrm>
            <a:off x="3541767" y="3121144"/>
            <a:ext cx="2267706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OPTION TWO</a:t>
            </a:r>
          </a:p>
        </p:txBody>
      </p:sp>
      <p:sp>
        <p:nvSpPr>
          <p:cNvPr id="12" name="Card 2 text"/>
          <p:cNvSpPr txBox="1"/>
          <p:nvPr/>
        </p:nvSpPr>
        <p:spPr>
          <a:xfrm>
            <a:off x="3541767" y="3584439"/>
            <a:ext cx="2267706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Short description in a sentence or two.</a:t>
            </a:r>
          </a:p>
        </p:txBody>
      </p:sp>
      <p:sp>
        <p:nvSpPr>
          <p:cNvPr id="13" name="Card 2 detail"/>
          <p:cNvSpPr txBox="1"/>
          <p:nvPr/>
        </p:nvSpPr>
        <p:spPr>
          <a:xfrm>
            <a:off x="3541767" y="5388850"/>
            <a:ext cx="2267706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DETAIL</a:t>
            </a:r>
          </a:p>
        </p:txBody>
      </p:sp>
      <p:sp>
        <p:nvSpPr>
          <p:cNvPr id="14" name="Card 3"/>
          <p:cNvSpPr/>
          <p:nvPr/>
        </p:nvSpPr>
        <p:spPr>
          <a:xfrm>
            <a:off x="6187424" y="2926072"/>
            <a:ext cx="2657849" cy="295045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3 title"/>
          <p:cNvSpPr txBox="1"/>
          <p:nvPr/>
        </p:nvSpPr>
        <p:spPr>
          <a:xfrm>
            <a:off x="6382496" y="3121144"/>
            <a:ext cx="2267706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OPTION THREE</a:t>
            </a:r>
          </a:p>
        </p:txBody>
      </p:sp>
      <p:sp>
        <p:nvSpPr>
          <p:cNvPr id="16" name="Card 3 text"/>
          <p:cNvSpPr txBox="1"/>
          <p:nvPr/>
        </p:nvSpPr>
        <p:spPr>
          <a:xfrm>
            <a:off x="6382496" y="3584439"/>
            <a:ext cx="2267706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Short description in a sentence or two.</a:t>
            </a:r>
          </a:p>
        </p:txBody>
      </p:sp>
      <p:sp>
        <p:nvSpPr>
          <p:cNvPr id="17" name="Card 3 detail"/>
          <p:cNvSpPr txBox="1"/>
          <p:nvPr/>
        </p:nvSpPr>
        <p:spPr>
          <a:xfrm>
            <a:off x="6382496" y="5388850"/>
            <a:ext cx="2267706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DETAIL</a:t>
            </a:r>
          </a:p>
        </p:txBody>
      </p:sp>
      <p:sp>
        <p:nvSpPr>
          <p:cNvPr id="18" name="Card 4"/>
          <p:cNvSpPr/>
          <p:nvPr/>
        </p:nvSpPr>
        <p:spPr>
          <a:xfrm>
            <a:off x="9028153" y="2926072"/>
            <a:ext cx="2657849" cy="295045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4 title"/>
          <p:cNvSpPr txBox="1"/>
          <p:nvPr/>
        </p:nvSpPr>
        <p:spPr>
          <a:xfrm>
            <a:off x="9223224" y="3121144"/>
            <a:ext cx="2267706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OPTION FOUR</a:t>
            </a:r>
          </a:p>
        </p:txBody>
      </p:sp>
      <p:sp>
        <p:nvSpPr>
          <p:cNvPr id="20" name="Card 4 text"/>
          <p:cNvSpPr txBox="1"/>
          <p:nvPr/>
        </p:nvSpPr>
        <p:spPr>
          <a:xfrm>
            <a:off x="9223224" y="3584439"/>
            <a:ext cx="2267706" cy="121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Short description in a sentence or two.</a:t>
            </a:r>
          </a:p>
        </p:txBody>
      </p:sp>
      <p:sp>
        <p:nvSpPr>
          <p:cNvPr id="21" name="Card 4 detail"/>
          <p:cNvSpPr txBox="1"/>
          <p:nvPr/>
        </p:nvSpPr>
        <p:spPr>
          <a:xfrm>
            <a:off x="9223224" y="5388850"/>
            <a:ext cx="2267706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DETAIL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SECTION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OUR PROCESS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3413751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How a project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moves</a:t>
            </a:r>
          </a:p>
        </p:txBody>
      </p:sp>
      <p:sp>
        <p:nvSpPr>
          <p:cNvPr id="6" name="Step 1 bar"/>
          <p:cNvSpPr/>
          <p:nvPr/>
        </p:nvSpPr>
        <p:spPr>
          <a:xfrm>
            <a:off x="4328149" y="1414268"/>
            <a:ext cx="7863820" cy="9753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ep 1 number"/>
          <p:cNvSpPr txBox="1"/>
          <p:nvPr/>
        </p:nvSpPr>
        <p:spPr>
          <a:xfrm>
            <a:off x="4620756" y="1670299"/>
            <a:ext cx="609598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8" name="Step 1 title"/>
          <p:cNvSpPr txBox="1"/>
          <p:nvPr/>
        </p:nvSpPr>
        <p:spPr>
          <a:xfrm>
            <a:off x="5303506" y="1767835"/>
            <a:ext cx="219455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</a:rPr>
              <a:t>DISCOVER</a:t>
            </a:r>
          </a:p>
        </p:txBody>
      </p:sp>
      <p:sp>
        <p:nvSpPr>
          <p:cNvPr id="9" name="Step 1 text"/>
          <p:cNvSpPr txBox="1"/>
          <p:nvPr/>
        </p:nvSpPr>
        <p:spPr>
          <a:xfrm>
            <a:off x="7619980" y="1792219"/>
            <a:ext cx="390143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What happens in this step.</a:t>
            </a:r>
          </a:p>
        </p:txBody>
      </p:sp>
      <p:sp>
        <p:nvSpPr>
          <p:cNvPr id="10" name="Step 2 bar"/>
          <p:cNvSpPr/>
          <p:nvPr/>
        </p:nvSpPr>
        <p:spPr>
          <a:xfrm>
            <a:off x="4693908" y="2560313"/>
            <a:ext cx="7498061" cy="9753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ep 2 number"/>
          <p:cNvSpPr txBox="1"/>
          <p:nvPr/>
        </p:nvSpPr>
        <p:spPr>
          <a:xfrm>
            <a:off x="4986515" y="2816344"/>
            <a:ext cx="609598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2</a:t>
            </a:r>
          </a:p>
        </p:txBody>
      </p:sp>
      <p:sp>
        <p:nvSpPr>
          <p:cNvPr id="12" name="Step 2 title"/>
          <p:cNvSpPr txBox="1"/>
          <p:nvPr/>
        </p:nvSpPr>
        <p:spPr>
          <a:xfrm>
            <a:off x="5669265" y="2913880"/>
            <a:ext cx="219455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13" name="Step 2 text"/>
          <p:cNvSpPr txBox="1"/>
          <p:nvPr/>
        </p:nvSpPr>
        <p:spPr>
          <a:xfrm>
            <a:off x="7985740" y="2938264"/>
            <a:ext cx="390143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What happens in this step.</a:t>
            </a:r>
          </a:p>
        </p:txBody>
      </p:sp>
      <p:sp>
        <p:nvSpPr>
          <p:cNvPr id="14" name="Step 3 bar"/>
          <p:cNvSpPr/>
          <p:nvPr/>
        </p:nvSpPr>
        <p:spPr>
          <a:xfrm>
            <a:off x="5059667" y="3706358"/>
            <a:ext cx="7132302" cy="9753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3 number"/>
          <p:cNvSpPr txBox="1"/>
          <p:nvPr/>
        </p:nvSpPr>
        <p:spPr>
          <a:xfrm>
            <a:off x="5352274" y="3962390"/>
            <a:ext cx="609598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3</a:t>
            </a:r>
          </a:p>
        </p:txBody>
      </p:sp>
      <p:sp>
        <p:nvSpPr>
          <p:cNvPr id="16" name="Step 3 title"/>
          <p:cNvSpPr txBox="1"/>
          <p:nvPr/>
        </p:nvSpPr>
        <p:spPr>
          <a:xfrm>
            <a:off x="6035024" y="4059925"/>
            <a:ext cx="219455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17" name="Step 3 text"/>
          <p:cNvSpPr txBox="1"/>
          <p:nvPr/>
        </p:nvSpPr>
        <p:spPr>
          <a:xfrm>
            <a:off x="8351499" y="4084309"/>
            <a:ext cx="390143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What happens in this step.</a:t>
            </a:r>
          </a:p>
        </p:txBody>
      </p:sp>
      <p:sp>
        <p:nvSpPr>
          <p:cNvPr id="18" name="Step 4 bar"/>
          <p:cNvSpPr/>
          <p:nvPr/>
        </p:nvSpPr>
        <p:spPr>
          <a:xfrm>
            <a:off x="5425426" y="4852403"/>
            <a:ext cx="6766543" cy="9753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 4 number"/>
          <p:cNvSpPr txBox="1"/>
          <p:nvPr/>
        </p:nvSpPr>
        <p:spPr>
          <a:xfrm>
            <a:off x="5718033" y="5108435"/>
            <a:ext cx="609598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4</a:t>
            </a:r>
          </a:p>
        </p:txBody>
      </p:sp>
      <p:sp>
        <p:nvSpPr>
          <p:cNvPr id="20" name="Step 4 title"/>
          <p:cNvSpPr txBox="1"/>
          <p:nvPr/>
        </p:nvSpPr>
        <p:spPr>
          <a:xfrm>
            <a:off x="6400783" y="5205970"/>
            <a:ext cx="219455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</a:rPr>
              <a:t>HANDOVER</a:t>
            </a:r>
          </a:p>
        </p:txBody>
      </p:sp>
      <p:sp>
        <p:nvSpPr>
          <p:cNvPr id="21" name="Step 4 text"/>
          <p:cNvSpPr txBox="1"/>
          <p:nvPr/>
        </p:nvSpPr>
        <p:spPr>
          <a:xfrm>
            <a:off x="8717258" y="5230354"/>
            <a:ext cx="390143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</a:rPr>
              <a:t>What happens in this step.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DISCUSSION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POLL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5120627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What matters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most to you</a:t>
            </a:r>
          </a:p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in a build?</a:t>
            </a:r>
          </a:p>
        </p:txBody>
      </p:sp>
      <p:cxnSp>
        <p:nvCxnSpPr>
          <p:cNvPr id="6" name="Option 1 rule"/>
          <p:cNvCxnSpPr/>
          <p:nvPr/>
        </p:nvCxnSpPr>
        <p:spPr>
          <a:xfrm>
            <a:off x="6217904" y="1414268"/>
            <a:ext cx="5468098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7" name="Option 1 badge"/>
          <p:cNvSpPr/>
          <p:nvPr/>
        </p:nvSpPr>
        <p:spPr>
          <a:xfrm>
            <a:off x="6217904" y="1694683"/>
            <a:ext cx="414526" cy="41452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ion 1 letter"/>
          <p:cNvSpPr txBox="1"/>
          <p:nvPr/>
        </p:nvSpPr>
        <p:spPr>
          <a:xfrm>
            <a:off x="6217904" y="1694683"/>
            <a:ext cx="414526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Option 1 text"/>
          <p:cNvSpPr txBox="1"/>
          <p:nvPr/>
        </p:nvSpPr>
        <p:spPr>
          <a:xfrm>
            <a:off x="6888462" y="1731259"/>
            <a:ext cx="4389109" cy="4876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</a:rPr>
              <a:t>Timeline</a:t>
            </a:r>
          </a:p>
        </p:txBody>
      </p:sp>
      <p:cxnSp>
        <p:nvCxnSpPr>
          <p:cNvPr id="10" name="Option 2 rule"/>
          <p:cNvCxnSpPr/>
          <p:nvPr/>
        </p:nvCxnSpPr>
        <p:spPr>
          <a:xfrm>
            <a:off x="6217904" y="2474969"/>
            <a:ext cx="5468098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11" name="Option 2 badge"/>
          <p:cNvSpPr/>
          <p:nvPr/>
        </p:nvSpPr>
        <p:spPr>
          <a:xfrm>
            <a:off x="6217904" y="2755385"/>
            <a:ext cx="414526" cy="41452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ion 2 letter"/>
          <p:cNvSpPr txBox="1"/>
          <p:nvPr/>
        </p:nvSpPr>
        <p:spPr>
          <a:xfrm>
            <a:off x="6217904" y="2755385"/>
            <a:ext cx="414526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3" name="Option 2 text"/>
          <p:cNvSpPr txBox="1"/>
          <p:nvPr/>
        </p:nvSpPr>
        <p:spPr>
          <a:xfrm>
            <a:off x="6888462" y="2791961"/>
            <a:ext cx="4389109" cy="4876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</a:rPr>
              <a:t>Budget</a:t>
            </a:r>
          </a:p>
        </p:txBody>
      </p:sp>
      <p:cxnSp>
        <p:nvCxnSpPr>
          <p:cNvPr id="14" name="Option 3 rule"/>
          <p:cNvCxnSpPr/>
          <p:nvPr/>
        </p:nvCxnSpPr>
        <p:spPr>
          <a:xfrm>
            <a:off x="6217904" y="3535671"/>
            <a:ext cx="5468098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15" name="Option 3 badge"/>
          <p:cNvSpPr/>
          <p:nvPr/>
        </p:nvSpPr>
        <p:spPr>
          <a:xfrm>
            <a:off x="6217904" y="3816086"/>
            <a:ext cx="414526" cy="41452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tion 3 letter"/>
          <p:cNvSpPr txBox="1"/>
          <p:nvPr/>
        </p:nvSpPr>
        <p:spPr>
          <a:xfrm>
            <a:off x="6217904" y="3816086"/>
            <a:ext cx="414526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7" name="Option 3 text"/>
          <p:cNvSpPr txBox="1"/>
          <p:nvPr/>
        </p:nvSpPr>
        <p:spPr>
          <a:xfrm>
            <a:off x="6888462" y="3852662"/>
            <a:ext cx="4389109" cy="4876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</a:rPr>
              <a:t>Design</a:t>
            </a:r>
          </a:p>
        </p:txBody>
      </p:sp>
      <p:cxnSp>
        <p:nvCxnSpPr>
          <p:cNvPr id="18" name="Option 4 rule"/>
          <p:cNvCxnSpPr/>
          <p:nvPr/>
        </p:nvCxnSpPr>
        <p:spPr>
          <a:xfrm>
            <a:off x="6217904" y="4596372"/>
            <a:ext cx="5468098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19" name="Option 4 badge"/>
          <p:cNvSpPr/>
          <p:nvPr/>
        </p:nvSpPr>
        <p:spPr>
          <a:xfrm>
            <a:off x="6217904" y="4876787"/>
            <a:ext cx="414526" cy="41452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ption 4 letter"/>
          <p:cNvSpPr txBox="1"/>
          <p:nvPr/>
        </p:nvSpPr>
        <p:spPr>
          <a:xfrm>
            <a:off x="6217904" y="4876787"/>
            <a:ext cx="414526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Option 4 text"/>
          <p:cNvSpPr txBox="1"/>
          <p:nvPr/>
        </p:nvSpPr>
        <p:spPr>
          <a:xfrm>
            <a:off x="6888462" y="4913363"/>
            <a:ext cx="4389109" cy="4876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</a:rPr>
              <a:t>Accessibility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 section"/>
          <p:cNvSpPr txBox="1"/>
          <p:nvPr/>
        </p:nvSpPr>
        <p:spPr>
          <a:xfrm>
            <a:off x="505966" y="505966"/>
            <a:ext cx="1828795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SUMMARY</a:t>
            </a:r>
          </a:p>
        </p:txBody>
      </p:sp>
      <p:cxnSp>
        <p:nvCxnSpPr>
          <p:cNvPr id="3" name="Eyebrow rule"/>
          <p:cNvCxnSpPr/>
          <p:nvPr/>
        </p:nvCxnSpPr>
        <p:spPr>
          <a:xfrm>
            <a:off x="2420105" y="560830"/>
            <a:ext cx="938782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4" name="Eyebrow subsection"/>
          <p:cNvSpPr txBox="1"/>
          <p:nvPr/>
        </p:nvSpPr>
        <p:spPr>
          <a:xfrm>
            <a:off x="4328149" y="505966"/>
            <a:ext cx="487678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chemeClr val="tx1"/>
                </a:solidFill>
              </a:rPr>
              <a:t>WHAT WE COVERED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505966" y="1402076"/>
            <a:ext cx="3657590" cy="2438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800" b="0" spc="-50">
                <a:solidFill>
                  <a:schemeClr val="tx1"/>
                </a:solidFill>
                <a:latin typeface="+mj-lt"/>
              </a:rPr>
              <a:t>Recap</a:t>
            </a:r>
          </a:p>
        </p:txBody>
      </p:sp>
      <p:cxnSp>
        <p:nvCxnSpPr>
          <p:cNvPr id="6" name="Recap 1 rule"/>
          <p:cNvCxnSpPr/>
          <p:nvPr/>
        </p:nvCxnSpPr>
        <p:spPr>
          <a:xfrm>
            <a:off x="505966" y="2926072"/>
            <a:ext cx="3596631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7" name="Recap 1 number"/>
          <p:cNvSpPr txBox="1"/>
          <p:nvPr/>
        </p:nvSpPr>
        <p:spPr>
          <a:xfrm>
            <a:off x="505966" y="3096760"/>
            <a:ext cx="3596631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chemeClr val="tx1"/>
                </a:solidFill>
                <a:latin typeface="+mj-lt"/>
              </a:rPr>
              <a:t>01</a:t>
            </a:r>
          </a:p>
        </p:txBody>
      </p:sp>
      <p:sp>
        <p:nvSpPr>
          <p:cNvPr id="8" name="Recap 1 title"/>
          <p:cNvSpPr txBox="1"/>
          <p:nvPr/>
        </p:nvSpPr>
        <p:spPr>
          <a:xfrm>
            <a:off x="505966" y="3974582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FIRST TOPIC</a:t>
            </a:r>
          </a:p>
        </p:txBody>
      </p:sp>
      <p:cxnSp>
        <p:nvCxnSpPr>
          <p:cNvPr id="9" name="Recap 1 line 1"/>
          <p:cNvCxnSpPr/>
          <p:nvPr/>
        </p:nvCxnSpPr>
        <p:spPr>
          <a:xfrm>
            <a:off x="505966" y="4486644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10" name="Recap 1 point 1"/>
          <p:cNvSpPr txBox="1"/>
          <p:nvPr/>
        </p:nvSpPr>
        <p:spPr>
          <a:xfrm>
            <a:off x="505966" y="4571988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  <p:cxnSp>
        <p:nvCxnSpPr>
          <p:cNvPr id="11" name="Recap 1 line 2"/>
          <p:cNvCxnSpPr/>
          <p:nvPr/>
        </p:nvCxnSpPr>
        <p:spPr>
          <a:xfrm>
            <a:off x="505966" y="4925555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12" name="Recap 1 point 2"/>
          <p:cNvSpPr txBox="1"/>
          <p:nvPr/>
        </p:nvSpPr>
        <p:spPr>
          <a:xfrm>
            <a:off x="505966" y="5010899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  <p:cxnSp>
        <p:nvCxnSpPr>
          <p:cNvPr id="13" name="Recap 1 line 3"/>
          <p:cNvCxnSpPr/>
          <p:nvPr/>
        </p:nvCxnSpPr>
        <p:spPr>
          <a:xfrm>
            <a:off x="505966" y="5364466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14" name="Recap 1 point 3"/>
          <p:cNvSpPr txBox="1"/>
          <p:nvPr/>
        </p:nvSpPr>
        <p:spPr>
          <a:xfrm>
            <a:off x="505966" y="5449810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  <p:cxnSp>
        <p:nvCxnSpPr>
          <p:cNvPr id="15" name="Recap 2 rule"/>
          <p:cNvCxnSpPr/>
          <p:nvPr/>
        </p:nvCxnSpPr>
        <p:spPr>
          <a:xfrm>
            <a:off x="4358629" y="2926072"/>
            <a:ext cx="3596631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6" name="Recap 2 number"/>
          <p:cNvSpPr txBox="1"/>
          <p:nvPr/>
        </p:nvSpPr>
        <p:spPr>
          <a:xfrm>
            <a:off x="4358629" y="3096760"/>
            <a:ext cx="3596631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chemeClr val="tx1"/>
                </a:solidFill>
                <a:latin typeface="+mj-lt"/>
              </a:rPr>
              <a:t>02</a:t>
            </a:r>
          </a:p>
        </p:txBody>
      </p:sp>
      <p:sp>
        <p:nvSpPr>
          <p:cNvPr id="17" name="Recap 2 title"/>
          <p:cNvSpPr txBox="1"/>
          <p:nvPr/>
        </p:nvSpPr>
        <p:spPr>
          <a:xfrm>
            <a:off x="4358629" y="3974582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SECOND TOPIC</a:t>
            </a:r>
          </a:p>
        </p:txBody>
      </p:sp>
      <p:cxnSp>
        <p:nvCxnSpPr>
          <p:cNvPr id="18" name="Recap 2 line 1"/>
          <p:cNvCxnSpPr/>
          <p:nvPr/>
        </p:nvCxnSpPr>
        <p:spPr>
          <a:xfrm>
            <a:off x="4358629" y="4486644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19" name="Recap 2 point 1"/>
          <p:cNvSpPr txBox="1"/>
          <p:nvPr/>
        </p:nvSpPr>
        <p:spPr>
          <a:xfrm>
            <a:off x="4358629" y="4571988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  <p:cxnSp>
        <p:nvCxnSpPr>
          <p:cNvPr id="20" name="Recap 2 line 2"/>
          <p:cNvCxnSpPr/>
          <p:nvPr/>
        </p:nvCxnSpPr>
        <p:spPr>
          <a:xfrm>
            <a:off x="4358629" y="4925555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21" name="Recap 2 point 2"/>
          <p:cNvSpPr txBox="1"/>
          <p:nvPr/>
        </p:nvSpPr>
        <p:spPr>
          <a:xfrm>
            <a:off x="4358629" y="5010899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  <p:cxnSp>
        <p:nvCxnSpPr>
          <p:cNvPr id="22" name="Recap 2 line 3"/>
          <p:cNvCxnSpPr/>
          <p:nvPr/>
        </p:nvCxnSpPr>
        <p:spPr>
          <a:xfrm>
            <a:off x="4358629" y="5364466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23" name="Recap 2 point 3"/>
          <p:cNvSpPr txBox="1"/>
          <p:nvPr/>
        </p:nvSpPr>
        <p:spPr>
          <a:xfrm>
            <a:off x="4358629" y="5449810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  <p:cxnSp>
        <p:nvCxnSpPr>
          <p:cNvPr id="24" name="Recap 3 rule"/>
          <p:cNvCxnSpPr/>
          <p:nvPr/>
        </p:nvCxnSpPr>
        <p:spPr>
          <a:xfrm>
            <a:off x="8211291" y="2926072"/>
            <a:ext cx="3596631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25" name="Recap 3 number"/>
          <p:cNvSpPr txBox="1"/>
          <p:nvPr/>
        </p:nvSpPr>
        <p:spPr>
          <a:xfrm>
            <a:off x="8211291" y="3096760"/>
            <a:ext cx="3596631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chemeClr val="tx1"/>
                </a:solidFill>
                <a:latin typeface="+mj-lt"/>
              </a:rPr>
              <a:t>03</a:t>
            </a:r>
          </a:p>
        </p:txBody>
      </p:sp>
      <p:sp>
        <p:nvSpPr>
          <p:cNvPr id="26" name="Recap 3 title"/>
          <p:cNvSpPr txBox="1"/>
          <p:nvPr/>
        </p:nvSpPr>
        <p:spPr>
          <a:xfrm>
            <a:off x="8211291" y="3974582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THIRD TOPIC</a:t>
            </a:r>
          </a:p>
        </p:txBody>
      </p:sp>
      <p:cxnSp>
        <p:nvCxnSpPr>
          <p:cNvPr id="27" name="Recap 3 line 1"/>
          <p:cNvCxnSpPr/>
          <p:nvPr/>
        </p:nvCxnSpPr>
        <p:spPr>
          <a:xfrm>
            <a:off x="8211291" y="4486644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28" name="Recap 3 point 1"/>
          <p:cNvSpPr txBox="1"/>
          <p:nvPr/>
        </p:nvSpPr>
        <p:spPr>
          <a:xfrm>
            <a:off x="8211291" y="4571988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  <p:cxnSp>
        <p:nvCxnSpPr>
          <p:cNvPr id="29" name="Recap 3 line 2"/>
          <p:cNvCxnSpPr/>
          <p:nvPr/>
        </p:nvCxnSpPr>
        <p:spPr>
          <a:xfrm>
            <a:off x="8211291" y="4925555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30" name="Recap 3 point 2"/>
          <p:cNvSpPr txBox="1"/>
          <p:nvPr/>
        </p:nvSpPr>
        <p:spPr>
          <a:xfrm>
            <a:off x="8211291" y="5010899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  <p:cxnSp>
        <p:nvCxnSpPr>
          <p:cNvPr id="31" name="Recap 3 line 3"/>
          <p:cNvCxnSpPr/>
          <p:nvPr/>
        </p:nvCxnSpPr>
        <p:spPr>
          <a:xfrm>
            <a:off x="8211291" y="5364466"/>
            <a:ext cx="3596631" cy="0"/>
          </a:xfrm>
          <a:prstGeom prst="line">
            <a:avLst/>
          </a:prstGeom>
          <a:ln w="6350">
            <a:solidFill>
              <a:schemeClr val="tx1"/>
            </a:solidFill>
          </a:ln>
        </p:spPr>
      </p:cxnSp>
      <p:sp>
        <p:nvSpPr>
          <p:cNvPr id="32" name="Recap 3 point 3"/>
          <p:cNvSpPr txBox="1"/>
          <p:nvPr/>
        </p:nvSpPr>
        <p:spPr>
          <a:xfrm>
            <a:off x="8211291" y="5449810"/>
            <a:ext cx="35966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Key point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5966" y="438910"/>
            <a:ext cx="9753575" cy="1950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0" spc="-200">
                <a:solidFill>
                  <a:schemeClr val="tx1"/>
                </a:solidFill>
                <a:latin typeface="+mj-lt"/>
              </a:rPr>
              <a:t>Thank you</a:t>
            </a:r>
          </a:p>
        </p:txBody>
      </p:sp>
      <p:sp>
        <p:nvSpPr>
          <p:cNvPr id="3" name="Contact"/>
          <p:cNvSpPr txBox="1"/>
          <p:nvPr/>
        </p:nvSpPr>
        <p:spPr>
          <a:xfrm>
            <a:off x="505966" y="4023349"/>
            <a:ext cx="6095984" cy="146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chemeClr val="tx1"/>
                </a:solidFill>
              </a:rPr>
              <a:t>NAME</a:t>
            </a:r>
          </a:p>
          <a:p>
            <a:pPr algn="l">
              <a:lnSpc>
                <a:spcPct val="105000"/>
              </a:lnSpc>
            </a:pPr>
            <a:r>
              <a:rPr sz="1800" b="1">
                <a:solidFill>
                  <a:schemeClr val="tx1"/>
                </a:solidFill>
              </a:rPr>
              <a:t>NAME@SHIFTPROJECTS.COM</a:t>
            </a:r>
          </a:p>
          <a:p>
            <a:pPr algn="l">
              <a:lnSpc>
                <a:spcPct val="105000"/>
              </a:lnSpc>
            </a:pPr>
            <a:r>
              <a:rPr sz="1800" b="1">
                <a:solidFill>
                  <a:schemeClr val="tx1"/>
                </a:solidFill>
              </a:rPr>
              <a:t>SHIFTPROJECTS.COM</a:t>
            </a:r>
          </a:p>
        </p:txBody>
      </p:sp>
      <p:sp>
        <p:nvSpPr>
          <p:cNvPr id="4" name="Shift wordmark (stacked)"/>
          <p:cNvSpPr/>
          <p:nvPr/>
        </p:nvSpPr>
        <p:spPr>
          <a:xfrm>
            <a:off x="9491448" y="4559796"/>
            <a:ext cx="2194554" cy="1096843"/>
          </a:xfrm>
          <a:custGeom>
            <a:avLst/>
            <a:gdLst/>
            <a:ahLst/>
            <a:cxnLst/>
            <a:rect l="0" t="0" r="r" b="b"/>
            <a:pathLst>
              <a:path w="75930" h="37950">
                <a:moveTo>
                  <a:pt x="4" y="11334"/>
                </a:moveTo>
                <a:lnTo>
                  <a:pt x="2383" y="11334"/>
                </a:lnTo>
                <a:cubicBezTo>
                  <a:pt x="2495" y="13443"/>
                  <a:pt x="3595" y="14341"/>
                  <a:pt x="6198" y="14341"/>
                </a:cubicBezTo>
                <a:cubicBezTo>
                  <a:pt x="8757" y="14341"/>
                  <a:pt x="9901" y="13847"/>
                  <a:pt x="9879" y="11872"/>
                </a:cubicBezTo>
                <a:cubicBezTo>
                  <a:pt x="9879" y="10436"/>
                  <a:pt x="9296" y="9920"/>
                  <a:pt x="7500" y="9516"/>
                </a:cubicBezTo>
                <a:lnTo>
                  <a:pt x="4448" y="8820"/>
                </a:lnTo>
                <a:cubicBezTo>
                  <a:pt x="1485" y="8147"/>
                  <a:pt x="229" y="6733"/>
                  <a:pt x="229" y="4713"/>
                </a:cubicBezTo>
                <a:cubicBezTo>
                  <a:pt x="229" y="1997"/>
                  <a:pt x="2428" y="0"/>
                  <a:pt x="6041" y="0"/>
                </a:cubicBezTo>
                <a:cubicBezTo>
                  <a:pt x="9834" y="0"/>
                  <a:pt x="11989" y="1997"/>
                  <a:pt x="12078" y="4870"/>
                </a:cubicBezTo>
                <a:lnTo>
                  <a:pt x="9699" y="4870"/>
                </a:lnTo>
                <a:cubicBezTo>
                  <a:pt x="9565" y="2850"/>
                  <a:pt x="8510" y="1997"/>
                  <a:pt x="6041" y="1997"/>
                </a:cubicBezTo>
                <a:cubicBezTo>
                  <a:pt x="3685" y="1997"/>
                  <a:pt x="2630" y="2491"/>
                  <a:pt x="2630" y="4444"/>
                </a:cubicBezTo>
                <a:cubicBezTo>
                  <a:pt x="2630" y="5678"/>
                  <a:pt x="3034" y="6329"/>
                  <a:pt x="5166" y="6778"/>
                </a:cubicBezTo>
                <a:lnTo>
                  <a:pt x="7837" y="7339"/>
                </a:lnTo>
                <a:cubicBezTo>
                  <a:pt x="11091" y="8012"/>
                  <a:pt x="12392" y="9493"/>
                  <a:pt x="12392" y="11558"/>
                </a:cubicBezTo>
                <a:cubicBezTo>
                  <a:pt x="12392" y="14296"/>
                  <a:pt x="10148" y="16338"/>
                  <a:pt x="6333" y="16338"/>
                </a:cubicBezTo>
                <a:cubicBezTo>
                  <a:pt x="2181" y="16338"/>
                  <a:pt x="71" y="14318"/>
                  <a:pt x="4" y="11334"/>
                </a:cubicBezTo>
                <a:moveTo>
                  <a:pt x="13919" y="16024"/>
                </a:moveTo>
                <a:lnTo>
                  <a:pt x="13919" y="314"/>
                </a:lnTo>
                <a:lnTo>
                  <a:pt x="16051" y="314"/>
                </a:lnTo>
                <a:lnTo>
                  <a:pt x="16051" y="5476"/>
                </a:lnTo>
                <a:lnTo>
                  <a:pt x="16724" y="5476"/>
                </a:lnTo>
                <a:cubicBezTo>
                  <a:pt x="17442" y="4668"/>
                  <a:pt x="18631" y="4152"/>
                  <a:pt x="20090" y="4152"/>
                </a:cubicBezTo>
                <a:cubicBezTo>
                  <a:pt x="22379" y="4152"/>
                  <a:pt x="23950" y="5386"/>
                  <a:pt x="23950" y="8147"/>
                </a:cubicBezTo>
                <a:lnTo>
                  <a:pt x="23950" y="16024"/>
                </a:lnTo>
                <a:lnTo>
                  <a:pt x="21796" y="16024"/>
                </a:lnTo>
                <a:lnTo>
                  <a:pt x="21796" y="8820"/>
                </a:lnTo>
                <a:cubicBezTo>
                  <a:pt x="21796" y="6464"/>
                  <a:pt x="21369" y="6037"/>
                  <a:pt x="18923" y="6037"/>
                </a:cubicBezTo>
                <a:cubicBezTo>
                  <a:pt x="16477" y="6037"/>
                  <a:pt x="16051" y="6486"/>
                  <a:pt x="16051" y="8843"/>
                </a:cubicBezTo>
                <a:lnTo>
                  <a:pt x="16051" y="16024"/>
                </a:lnTo>
                <a:close/>
                <a:moveTo>
                  <a:pt x="13919" y="16024"/>
                </a:moveTo>
                <a:moveTo>
                  <a:pt x="26172" y="314"/>
                </a:moveTo>
                <a:lnTo>
                  <a:pt x="28416" y="314"/>
                </a:lnTo>
                <a:lnTo>
                  <a:pt x="28416" y="2671"/>
                </a:lnTo>
                <a:lnTo>
                  <a:pt x="26172" y="2671"/>
                </a:lnTo>
                <a:close/>
                <a:moveTo>
                  <a:pt x="26217" y="4466"/>
                </a:moveTo>
                <a:lnTo>
                  <a:pt x="28371" y="4466"/>
                </a:lnTo>
                <a:lnTo>
                  <a:pt x="28371" y="16024"/>
                </a:lnTo>
                <a:lnTo>
                  <a:pt x="26217" y="16024"/>
                </a:lnTo>
                <a:close/>
                <a:moveTo>
                  <a:pt x="26217" y="4466"/>
                </a:moveTo>
                <a:moveTo>
                  <a:pt x="42643" y="6216"/>
                </a:moveTo>
                <a:lnTo>
                  <a:pt x="40331" y="6216"/>
                </a:lnTo>
                <a:lnTo>
                  <a:pt x="40331" y="13174"/>
                </a:lnTo>
                <a:cubicBezTo>
                  <a:pt x="40331" y="13959"/>
                  <a:pt x="40556" y="14184"/>
                  <a:pt x="41386" y="14184"/>
                </a:cubicBezTo>
                <a:lnTo>
                  <a:pt x="42643" y="14184"/>
                </a:lnTo>
                <a:lnTo>
                  <a:pt x="42643" y="16024"/>
                </a:lnTo>
                <a:lnTo>
                  <a:pt x="41408" y="16024"/>
                </a:lnTo>
                <a:cubicBezTo>
                  <a:pt x="39389" y="16024"/>
                  <a:pt x="38177" y="15014"/>
                  <a:pt x="38177" y="12994"/>
                </a:cubicBezTo>
                <a:lnTo>
                  <a:pt x="38177" y="6216"/>
                </a:lnTo>
                <a:lnTo>
                  <a:pt x="34003" y="6216"/>
                </a:lnTo>
                <a:lnTo>
                  <a:pt x="34003" y="16024"/>
                </a:lnTo>
                <a:lnTo>
                  <a:pt x="31848" y="16024"/>
                </a:lnTo>
                <a:lnTo>
                  <a:pt x="31848" y="6216"/>
                </a:lnTo>
                <a:lnTo>
                  <a:pt x="30165" y="6216"/>
                </a:lnTo>
                <a:lnTo>
                  <a:pt x="30165" y="4466"/>
                </a:lnTo>
                <a:lnTo>
                  <a:pt x="31848" y="4466"/>
                </a:lnTo>
                <a:lnTo>
                  <a:pt x="31848" y="3456"/>
                </a:lnTo>
                <a:cubicBezTo>
                  <a:pt x="31848" y="1391"/>
                  <a:pt x="33127" y="314"/>
                  <a:pt x="35192" y="314"/>
                </a:cubicBezTo>
                <a:lnTo>
                  <a:pt x="36314" y="314"/>
                </a:lnTo>
                <a:lnTo>
                  <a:pt x="36314" y="2155"/>
                </a:lnTo>
                <a:lnTo>
                  <a:pt x="34990" y="2155"/>
                </a:lnTo>
                <a:cubicBezTo>
                  <a:pt x="34205" y="2155"/>
                  <a:pt x="34003" y="2356"/>
                  <a:pt x="34003" y="3120"/>
                </a:cubicBezTo>
                <a:lnTo>
                  <a:pt x="34003" y="4466"/>
                </a:lnTo>
                <a:lnTo>
                  <a:pt x="38177" y="4466"/>
                </a:lnTo>
                <a:lnTo>
                  <a:pt x="38177" y="1324"/>
                </a:lnTo>
                <a:lnTo>
                  <a:pt x="40331" y="1324"/>
                </a:lnTo>
                <a:lnTo>
                  <a:pt x="40331" y="4466"/>
                </a:lnTo>
                <a:lnTo>
                  <a:pt x="42643" y="4466"/>
                </a:lnTo>
                <a:close/>
                <a:moveTo>
                  <a:pt x="42643" y="6216"/>
                </a:moveTo>
                <a:moveTo>
                  <a:pt x="152" y="34090"/>
                </a:moveTo>
                <a:lnTo>
                  <a:pt x="152" y="18380"/>
                </a:lnTo>
                <a:lnTo>
                  <a:pt x="6907" y="18380"/>
                </a:lnTo>
                <a:cubicBezTo>
                  <a:pt x="9757" y="18380"/>
                  <a:pt x="12001" y="19996"/>
                  <a:pt x="12001" y="23026"/>
                </a:cubicBezTo>
                <a:cubicBezTo>
                  <a:pt x="12001" y="26056"/>
                  <a:pt x="9735" y="27672"/>
                  <a:pt x="6930" y="27672"/>
                </a:cubicBezTo>
                <a:lnTo>
                  <a:pt x="2396" y="27672"/>
                </a:lnTo>
                <a:lnTo>
                  <a:pt x="2396" y="34090"/>
                </a:lnTo>
                <a:close/>
                <a:moveTo>
                  <a:pt x="2396" y="25719"/>
                </a:moveTo>
                <a:lnTo>
                  <a:pt x="6728" y="25719"/>
                </a:lnTo>
                <a:cubicBezTo>
                  <a:pt x="8882" y="25719"/>
                  <a:pt x="9421" y="25338"/>
                  <a:pt x="9421" y="23026"/>
                </a:cubicBezTo>
                <a:cubicBezTo>
                  <a:pt x="9421" y="20692"/>
                  <a:pt x="8882" y="20333"/>
                  <a:pt x="6728" y="20333"/>
                </a:cubicBezTo>
                <a:lnTo>
                  <a:pt x="2396" y="20333"/>
                </a:lnTo>
                <a:close/>
                <a:moveTo>
                  <a:pt x="2396" y="25719"/>
                </a:moveTo>
                <a:moveTo>
                  <a:pt x="12967" y="34090"/>
                </a:moveTo>
                <a:lnTo>
                  <a:pt x="12967" y="22532"/>
                </a:lnTo>
                <a:lnTo>
                  <a:pt x="15031" y="22532"/>
                </a:lnTo>
                <a:lnTo>
                  <a:pt x="15099" y="23542"/>
                </a:lnTo>
                <a:lnTo>
                  <a:pt x="15772" y="23542"/>
                </a:lnTo>
                <a:cubicBezTo>
                  <a:pt x="16445" y="22600"/>
                  <a:pt x="17545" y="22218"/>
                  <a:pt x="18689" y="22218"/>
                </a:cubicBezTo>
                <a:lnTo>
                  <a:pt x="18689" y="24350"/>
                </a:lnTo>
                <a:lnTo>
                  <a:pt x="18083" y="24350"/>
                </a:lnTo>
                <a:cubicBezTo>
                  <a:pt x="15682" y="24350"/>
                  <a:pt x="15121" y="24821"/>
                  <a:pt x="15121" y="26954"/>
                </a:cubicBezTo>
                <a:lnTo>
                  <a:pt x="15121" y="34090"/>
                </a:lnTo>
                <a:close/>
                <a:moveTo>
                  <a:pt x="12967" y="34090"/>
                </a:moveTo>
                <a:moveTo>
                  <a:pt x="18622" y="28323"/>
                </a:moveTo>
                <a:cubicBezTo>
                  <a:pt x="18622" y="24642"/>
                  <a:pt x="20709" y="22218"/>
                  <a:pt x="24479" y="22218"/>
                </a:cubicBezTo>
                <a:cubicBezTo>
                  <a:pt x="28249" y="22218"/>
                  <a:pt x="30247" y="24642"/>
                  <a:pt x="30247" y="28323"/>
                </a:cubicBezTo>
                <a:cubicBezTo>
                  <a:pt x="30247" y="32003"/>
                  <a:pt x="28205" y="34405"/>
                  <a:pt x="24457" y="34405"/>
                </a:cubicBezTo>
                <a:cubicBezTo>
                  <a:pt x="20709" y="34405"/>
                  <a:pt x="18622" y="32003"/>
                  <a:pt x="18622" y="28323"/>
                </a:cubicBezTo>
                <a:moveTo>
                  <a:pt x="27913" y="28323"/>
                </a:moveTo>
                <a:cubicBezTo>
                  <a:pt x="27913" y="24844"/>
                  <a:pt x="27464" y="24216"/>
                  <a:pt x="24457" y="24216"/>
                </a:cubicBezTo>
                <a:cubicBezTo>
                  <a:pt x="21449" y="24216"/>
                  <a:pt x="20956" y="24844"/>
                  <a:pt x="20956" y="28323"/>
                </a:cubicBezTo>
                <a:cubicBezTo>
                  <a:pt x="20956" y="31801"/>
                  <a:pt x="21449" y="32407"/>
                  <a:pt x="24457" y="32407"/>
                </a:cubicBezTo>
                <a:cubicBezTo>
                  <a:pt x="27464" y="32407"/>
                  <a:pt x="27913" y="31801"/>
                  <a:pt x="27913" y="28323"/>
                </a:cubicBezTo>
                <a:moveTo>
                  <a:pt x="37941" y="29086"/>
                </a:moveTo>
                <a:cubicBezTo>
                  <a:pt x="37829" y="31442"/>
                  <a:pt x="38502" y="32542"/>
                  <a:pt x="41240" y="32542"/>
                </a:cubicBezTo>
                <a:cubicBezTo>
                  <a:pt x="42990" y="32542"/>
                  <a:pt x="44157" y="32160"/>
                  <a:pt x="44337" y="30388"/>
                </a:cubicBezTo>
                <a:lnTo>
                  <a:pt x="46447" y="30388"/>
                </a:lnTo>
                <a:cubicBezTo>
                  <a:pt x="46289" y="33036"/>
                  <a:pt x="44180" y="34405"/>
                  <a:pt x="41262" y="34405"/>
                </a:cubicBezTo>
                <a:cubicBezTo>
                  <a:pt x="37829" y="34405"/>
                  <a:pt x="35629" y="32318"/>
                  <a:pt x="35629" y="28412"/>
                </a:cubicBezTo>
                <a:cubicBezTo>
                  <a:pt x="35629" y="24462"/>
                  <a:pt x="37963" y="22218"/>
                  <a:pt x="41285" y="22218"/>
                </a:cubicBezTo>
                <a:cubicBezTo>
                  <a:pt x="44853" y="22218"/>
                  <a:pt x="46626" y="24709"/>
                  <a:pt x="46626" y="28031"/>
                </a:cubicBezTo>
                <a:cubicBezTo>
                  <a:pt x="46626" y="28368"/>
                  <a:pt x="46626" y="28727"/>
                  <a:pt x="46581" y="29086"/>
                </a:cubicBezTo>
                <a:close/>
                <a:moveTo>
                  <a:pt x="37941" y="27357"/>
                </a:moveTo>
                <a:lnTo>
                  <a:pt x="44314" y="27357"/>
                </a:lnTo>
                <a:cubicBezTo>
                  <a:pt x="44449" y="24979"/>
                  <a:pt x="43596" y="24193"/>
                  <a:pt x="41217" y="24193"/>
                </a:cubicBezTo>
                <a:cubicBezTo>
                  <a:pt x="38816" y="24193"/>
                  <a:pt x="37941" y="24934"/>
                  <a:pt x="37941" y="27357"/>
                </a:cubicBezTo>
                <a:moveTo>
                  <a:pt x="47928" y="28300"/>
                </a:moveTo>
                <a:cubicBezTo>
                  <a:pt x="47928" y="24395"/>
                  <a:pt x="50060" y="22218"/>
                  <a:pt x="53561" y="22218"/>
                </a:cubicBezTo>
                <a:cubicBezTo>
                  <a:pt x="56501" y="22218"/>
                  <a:pt x="58655" y="23587"/>
                  <a:pt x="58722" y="26460"/>
                </a:cubicBezTo>
                <a:lnTo>
                  <a:pt x="56613" y="26460"/>
                </a:lnTo>
                <a:cubicBezTo>
                  <a:pt x="56501" y="24575"/>
                  <a:pt x="55805" y="24148"/>
                  <a:pt x="53538" y="24148"/>
                </a:cubicBezTo>
                <a:cubicBezTo>
                  <a:pt x="50980" y="24148"/>
                  <a:pt x="50262" y="24507"/>
                  <a:pt x="50262" y="28300"/>
                </a:cubicBezTo>
                <a:cubicBezTo>
                  <a:pt x="50262" y="32093"/>
                  <a:pt x="50980" y="32475"/>
                  <a:pt x="53538" y="32475"/>
                </a:cubicBezTo>
                <a:cubicBezTo>
                  <a:pt x="55805" y="32475"/>
                  <a:pt x="56501" y="32048"/>
                  <a:pt x="56613" y="30163"/>
                </a:cubicBezTo>
                <a:lnTo>
                  <a:pt x="58722" y="30163"/>
                </a:lnTo>
                <a:cubicBezTo>
                  <a:pt x="58655" y="33036"/>
                  <a:pt x="56501" y="34405"/>
                  <a:pt x="53538" y="34405"/>
                </a:cubicBezTo>
                <a:cubicBezTo>
                  <a:pt x="50037" y="34405"/>
                  <a:pt x="47928" y="32430"/>
                  <a:pt x="47928" y="28300"/>
                </a:cubicBezTo>
                <a:moveTo>
                  <a:pt x="63906" y="34090"/>
                </a:moveTo>
                <a:cubicBezTo>
                  <a:pt x="61887" y="34090"/>
                  <a:pt x="60675" y="33080"/>
                  <a:pt x="60675" y="31061"/>
                </a:cubicBezTo>
                <a:lnTo>
                  <a:pt x="60675" y="24283"/>
                </a:lnTo>
                <a:lnTo>
                  <a:pt x="58992" y="24283"/>
                </a:lnTo>
                <a:lnTo>
                  <a:pt x="58992" y="22532"/>
                </a:lnTo>
                <a:lnTo>
                  <a:pt x="60675" y="22532"/>
                </a:lnTo>
                <a:lnTo>
                  <a:pt x="60675" y="19391"/>
                </a:lnTo>
                <a:lnTo>
                  <a:pt x="62829" y="19391"/>
                </a:lnTo>
                <a:lnTo>
                  <a:pt x="62829" y="22532"/>
                </a:lnTo>
                <a:lnTo>
                  <a:pt x="65141" y="22532"/>
                </a:lnTo>
                <a:lnTo>
                  <a:pt x="65141" y="24283"/>
                </a:lnTo>
                <a:lnTo>
                  <a:pt x="62829" y="24283"/>
                </a:lnTo>
                <a:lnTo>
                  <a:pt x="62829" y="31240"/>
                </a:lnTo>
                <a:cubicBezTo>
                  <a:pt x="62829" y="32026"/>
                  <a:pt x="63054" y="32250"/>
                  <a:pt x="63884" y="32250"/>
                </a:cubicBezTo>
                <a:lnTo>
                  <a:pt x="65141" y="32250"/>
                </a:lnTo>
                <a:lnTo>
                  <a:pt x="65141" y="34090"/>
                </a:lnTo>
                <a:close/>
                <a:moveTo>
                  <a:pt x="63906" y="34090"/>
                </a:moveTo>
                <a:moveTo>
                  <a:pt x="66106" y="30500"/>
                </a:moveTo>
                <a:lnTo>
                  <a:pt x="68215" y="30500"/>
                </a:lnTo>
                <a:cubicBezTo>
                  <a:pt x="68350" y="31846"/>
                  <a:pt x="68776" y="32609"/>
                  <a:pt x="71200" y="32609"/>
                </a:cubicBezTo>
                <a:cubicBezTo>
                  <a:pt x="73422" y="32609"/>
                  <a:pt x="73826" y="32048"/>
                  <a:pt x="73826" y="30836"/>
                </a:cubicBezTo>
                <a:cubicBezTo>
                  <a:pt x="73826" y="30096"/>
                  <a:pt x="73422" y="29669"/>
                  <a:pt x="72255" y="29445"/>
                </a:cubicBezTo>
                <a:lnTo>
                  <a:pt x="69652" y="28951"/>
                </a:lnTo>
                <a:cubicBezTo>
                  <a:pt x="67879" y="28614"/>
                  <a:pt x="66353" y="27784"/>
                  <a:pt x="66353" y="25854"/>
                </a:cubicBezTo>
                <a:cubicBezTo>
                  <a:pt x="66353" y="23655"/>
                  <a:pt x="68260" y="22218"/>
                  <a:pt x="71088" y="22218"/>
                </a:cubicBezTo>
                <a:cubicBezTo>
                  <a:pt x="73624" y="22218"/>
                  <a:pt x="75779" y="23587"/>
                  <a:pt x="75734" y="26011"/>
                </a:cubicBezTo>
                <a:lnTo>
                  <a:pt x="73624" y="26011"/>
                </a:lnTo>
                <a:cubicBezTo>
                  <a:pt x="73512" y="24687"/>
                  <a:pt x="72996" y="24014"/>
                  <a:pt x="70954" y="24014"/>
                </a:cubicBezTo>
                <a:cubicBezTo>
                  <a:pt x="68821" y="24014"/>
                  <a:pt x="68440" y="24575"/>
                  <a:pt x="68417" y="25585"/>
                </a:cubicBezTo>
                <a:cubicBezTo>
                  <a:pt x="68417" y="26325"/>
                  <a:pt x="68664" y="26819"/>
                  <a:pt x="70123" y="27088"/>
                </a:cubicBezTo>
                <a:lnTo>
                  <a:pt x="72480" y="27515"/>
                </a:lnTo>
                <a:cubicBezTo>
                  <a:pt x="74320" y="27851"/>
                  <a:pt x="75936" y="28727"/>
                  <a:pt x="75936" y="30679"/>
                </a:cubicBezTo>
                <a:cubicBezTo>
                  <a:pt x="75936" y="32946"/>
                  <a:pt x="73871" y="34405"/>
                  <a:pt x="71021" y="34405"/>
                </a:cubicBezTo>
                <a:cubicBezTo>
                  <a:pt x="68305" y="34405"/>
                  <a:pt x="66039" y="33103"/>
                  <a:pt x="66106" y="30500"/>
                </a:cubicBezTo>
                <a:moveTo>
                  <a:pt x="29539" y="37950"/>
                </a:moveTo>
                <a:lnTo>
                  <a:pt x="29539" y="36110"/>
                </a:lnTo>
                <a:lnTo>
                  <a:pt x="30885" y="36110"/>
                </a:lnTo>
                <a:cubicBezTo>
                  <a:pt x="31648" y="36110"/>
                  <a:pt x="31850" y="35908"/>
                  <a:pt x="31850" y="35190"/>
                </a:cubicBezTo>
                <a:lnTo>
                  <a:pt x="31850" y="22532"/>
                </a:lnTo>
                <a:lnTo>
                  <a:pt x="34005" y="22532"/>
                </a:lnTo>
                <a:lnTo>
                  <a:pt x="34005" y="34921"/>
                </a:lnTo>
                <a:cubicBezTo>
                  <a:pt x="34005" y="36941"/>
                  <a:pt x="32792" y="37950"/>
                  <a:pt x="30773" y="37950"/>
                </a:cubicBezTo>
                <a:close/>
                <a:moveTo>
                  <a:pt x="29539" y="37950"/>
                </a:moveTo>
                <a:moveTo>
                  <a:pt x="31847" y="18380"/>
                </a:moveTo>
                <a:lnTo>
                  <a:pt x="34091" y="18380"/>
                </a:lnTo>
                <a:lnTo>
                  <a:pt x="34091" y="20737"/>
                </a:lnTo>
                <a:lnTo>
                  <a:pt x="31847" y="20737"/>
                </a:lnTo>
                <a:close/>
                <a:moveTo>
                  <a:pt x="31847" y="18380"/>
                </a:moveTo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 Projects">
  <a:themeElements>
    <a:clrScheme name="Shift Projects">
      <a:dk1>
        <a:srgbClr val="282829"/>
      </a:dk1>
      <a:lt1>
        <a:srgbClr val="F7EDDB"/>
      </a:lt1>
      <a:dk2>
        <a:srgbClr val="282829"/>
      </a:dk2>
      <a:lt2>
        <a:srgbClr val="F7EDDB"/>
      </a:lt2>
      <a:accent1>
        <a:srgbClr val="E0B977"/>
      </a:accent1>
      <a:accent2>
        <a:srgbClr val="978745"/>
      </a:accent2>
      <a:accent3>
        <a:srgbClr val="C35D27"/>
      </a:accent3>
      <a:accent4>
        <a:srgbClr val="8BA5BC"/>
      </a:accent4>
      <a:accent5>
        <a:srgbClr val="282829"/>
      </a:accent5>
      <a:accent6>
        <a:srgbClr val="F7EDDB"/>
      </a:accent6>
      <a:hlink>
        <a:srgbClr val="C35D27"/>
      </a:hlink>
      <a:folHlink>
        <a:srgbClr val="978745"/>
      </a:folHlink>
    </a:clrScheme>
    <a:fontScheme name="Shift Projects">
      <a:majorFont>
        <a:latin typeface="Familjen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